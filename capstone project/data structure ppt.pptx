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72" r:id="rId6"/>
    <p:sldId id="262" r:id="rId7"/>
    <p:sldId id="263" r:id="rId8"/>
    <p:sldId id="264" r:id="rId9"/>
    <p:sldId id="265" r:id="rId10"/>
    <p:sldId id="274" r:id="rId11"/>
    <p:sldId id="266" r:id="rId12"/>
    <p:sldId id="275" r:id="rId13"/>
    <p:sldId id="267" r:id="rId14"/>
    <p:sldId id="276" r:id="rId15"/>
    <p:sldId id="268" r:id="rId16"/>
    <p:sldId id="277" r:id="rId17"/>
    <p:sldId id="270" r:id="rId18"/>
    <p:sldId id="271"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84" autoAdjust="0"/>
    <p:restoredTop sz="94660"/>
  </p:normalViewPr>
  <p:slideViewPr>
    <p:cSldViewPr snapToGrid="0">
      <p:cViewPr varScale="1">
        <p:scale>
          <a:sx n="78" d="100"/>
          <a:sy n="78" d="100"/>
        </p:scale>
        <p:origin x="946"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AC87C-9654-BB46-ADEB-86EB882DD9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6DE7000-585E-8AF4-DA6D-EBCA1002F1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F7ABD26-E14C-111C-D221-5C657CBADB99}"/>
              </a:ext>
            </a:extLst>
          </p:cNvPr>
          <p:cNvSpPr>
            <a:spLocks noGrp="1"/>
          </p:cNvSpPr>
          <p:nvPr>
            <p:ph type="dt" sz="half" idx="10"/>
          </p:nvPr>
        </p:nvSpPr>
        <p:spPr/>
        <p:txBody>
          <a:bodyPr/>
          <a:lstStyle/>
          <a:p>
            <a:fld id="{267C2D19-DE67-4CBA-8A2B-1811D65B131A}" type="datetimeFigureOut">
              <a:rPr lang="en-IN" smtClean="0"/>
              <a:t>28-08-2026</a:t>
            </a:fld>
            <a:endParaRPr lang="en-IN"/>
          </a:p>
        </p:txBody>
      </p:sp>
      <p:sp>
        <p:nvSpPr>
          <p:cNvPr id="5" name="Footer Placeholder 4">
            <a:extLst>
              <a:ext uri="{FF2B5EF4-FFF2-40B4-BE49-F238E27FC236}">
                <a16:creationId xmlns:a16="http://schemas.microsoft.com/office/drawing/2014/main" id="{4DF1C204-DD9E-FB2E-1E72-A033C9DB2D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0A344A-C970-AA00-73F1-7EC1D85306AA}"/>
              </a:ext>
            </a:extLst>
          </p:cNvPr>
          <p:cNvSpPr>
            <a:spLocks noGrp="1"/>
          </p:cNvSpPr>
          <p:nvPr>
            <p:ph type="sldNum" sz="quarter" idx="12"/>
          </p:nvPr>
        </p:nvSpPr>
        <p:spPr/>
        <p:txBody>
          <a:bodyPr/>
          <a:lstStyle/>
          <a:p>
            <a:fld id="{A86F25DE-22B3-4D76-B887-20D39869F498}" type="slidenum">
              <a:rPr lang="en-IN" smtClean="0"/>
              <a:t>‹#›</a:t>
            </a:fld>
            <a:endParaRPr lang="en-IN"/>
          </a:p>
        </p:txBody>
      </p:sp>
    </p:spTree>
    <p:extLst>
      <p:ext uri="{BB962C8B-B14F-4D97-AF65-F5344CB8AC3E}">
        <p14:creationId xmlns:p14="http://schemas.microsoft.com/office/powerpoint/2010/main" val="990633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1EBC4-1677-B682-DDF0-935FA27025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7BADD5D-12C5-8644-2778-44BD5E0120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570F75-9124-3F41-4871-58C3E9FE1913}"/>
              </a:ext>
            </a:extLst>
          </p:cNvPr>
          <p:cNvSpPr>
            <a:spLocks noGrp="1"/>
          </p:cNvSpPr>
          <p:nvPr>
            <p:ph type="dt" sz="half" idx="10"/>
          </p:nvPr>
        </p:nvSpPr>
        <p:spPr/>
        <p:txBody>
          <a:bodyPr/>
          <a:lstStyle/>
          <a:p>
            <a:fld id="{267C2D19-DE67-4CBA-8A2B-1811D65B131A}" type="datetimeFigureOut">
              <a:rPr lang="en-IN" smtClean="0"/>
              <a:t>28-08-2026</a:t>
            </a:fld>
            <a:endParaRPr lang="en-IN"/>
          </a:p>
        </p:txBody>
      </p:sp>
      <p:sp>
        <p:nvSpPr>
          <p:cNvPr id="5" name="Footer Placeholder 4">
            <a:extLst>
              <a:ext uri="{FF2B5EF4-FFF2-40B4-BE49-F238E27FC236}">
                <a16:creationId xmlns:a16="http://schemas.microsoft.com/office/drawing/2014/main" id="{9A6450FE-7DBB-B445-2AD5-9A6864A672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1101A0-164E-41F9-D24C-52CCBF16A96C}"/>
              </a:ext>
            </a:extLst>
          </p:cNvPr>
          <p:cNvSpPr>
            <a:spLocks noGrp="1"/>
          </p:cNvSpPr>
          <p:nvPr>
            <p:ph type="sldNum" sz="quarter" idx="12"/>
          </p:nvPr>
        </p:nvSpPr>
        <p:spPr/>
        <p:txBody>
          <a:bodyPr/>
          <a:lstStyle/>
          <a:p>
            <a:fld id="{A86F25DE-22B3-4D76-B887-20D39869F498}" type="slidenum">
              <a:rPr lang="en-IN" smtClean="0"/>
              <a:t>‹#›</a:t>
            </a:fld>
            <a:endParaRPr lang="en-IN"/>
          </a:p>
        </p:txBody>
      </p:sp>
    </p:spTree>
    <p:extLst>
      <p:ext uri="{BB962C8B-B14F-4D97-AF65-F5344CB8AC3E}">
        <p14:creationId xmlns:p14="http://schemas.microsoft.com/office/powerpoint/2010/main" val="1767616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22624-3721-83E9-38F1-3161052DA0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679C4FF-C5EE-BC75-AC7E-66D1921DCC2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7BADAE-0BB1-20BC-FB65-9DFD9707F07E}"/>
              </a:ext>
            </a:extLst>
          </p:cNvPr>
          <p:cNvSpPr>
            <a:spLocks noGrp="1"/>
          </p:cNvSpPr>
          <p:nvPr>
            <p:ph type="dt" sz="half" idx="10"/>
          </p:nvPr>
        </p:nvSpPr>
        <p:spPr/>
        <p:txBody>
          <a:bodyPr/>
          <a:lstStyle/>
          <a:p>
            <a:fld id="{267C2D19-DE67-4CBA-8A2B-1811D65B131A}" type="datetimeFigureOut">
              <a:rPr lang="en-IN" smtClean="0"/>
              <a:t>28-08-2026</a:t>
            </a:fld>
            <a:endParaRPr lang="en-IN"/>
          </a:p>
        </p:txBody>
      </p:sp>
      <p:sp>
        <p:nvSpPr>
          <p:cNvPr id="5" name="Footer Placeholder 4">
            <a:extLst>
              <a:ext uri="{FF2B5EF4-FFF2-40B4-BE49-F238E27FC236}">
                <a16:creationId xmlns:a16="http://schemas.microsoft.com/office/drawing/2014/main" id="{3056C66C-A6F5-540F-052E-95B3115AC4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B6A7BA-2DFB-127F-BD00-288785778388}"/>
              </a:ext>
            </a:extLst>
          </p:cNvPr>
          <p:cNvSpPr>
            <a:spLocks noGrp="1"/>
          </p:cNvSpPr>
          <p:nvPr>
            <p:ph type="sldNum" sz="quarter" idx="12"/>
          </p:nvPr>
        </p:nvSpPr>
        <p:spPr/>
        <p:txBody>
          <a:bodyPr/>
          <a:lstStyle/>
          <a:p>
            <a:fld id="{A86F25DE-22B3-4D76-B887-20D39869F498}" type="slidenum">
              <a:rPr lang="en-IN" smtClean="0"/>
              <a:t>‹#›</a:t>
            </a:fld>
            <a:endParaRPr lang="en-IN"/>
          </a:p>
        </p:txBody>
      </p:sp>
    </p:spTree>
    <p:extLst>
      <p:ext uri="{BB962C8B-B14F-4D97-AF65-F5344CB8AC3E}">
        <p14:creationId xmlns:p14="http://schemas.microsoft.com/office/powerpoint/2010/main" val="4176354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F546B-1765-DC7D-5411-809CCFB0E1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10D96B1-026F-5558-61DB-D7E26DFCEA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59CADC0-A828-1FAB-9058-55538F2414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674797D-1E8C-C7FF-60A3-E4175B4856FB}"/>
              </a:ext>
            </a:extLst>
          </p:cNvPr>
          <p:cNvSpPr>
            <a:spLocks noGrp="1"/>
          </p:cNvSpPr>
          <p:nvPr>
            <p:ph type="dt" sz="half" idx="10"/>
          </p:nvPr>
        </p:nvSpPr>
        <p:spPr/>
        <p:txBody>
          <a:bodyPr/>
          <a:lstStyle/>
          <a:p>
            <a:fld id="{267C2D19-DE67-4CBA-8A2B-1811D65B131A}" type="datetimeFigureOut">
              <a:rPr lang="en-IN" smtClean="0"/>
              <a:t>28-08-2026</a:t>
            </a:fld>
            <a:endParaRPr lang="en-IN"/>
          </a:p>
        </p:txBody>
      </p:sp>
      <p:sp>
        <p:nvSpPr>
          <p:cNvPr id="6" name="Footer Placeholder 5">
            <a:extLst>
              <a:ext uri="{FF2B5EF4-FFF2-40B4-BE49-F238E27FC236}">
                <a16:creationId xmlns:a16="http://schemas.microsoft.com/office/drawing/2014/main" id="{256B39A9-F6BC-4AFE-AADA-F02281B79D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4B9842-72DD-BE00-6DA1-B8C31EFDEBF0}"/>
              </a:ext>
            </a:extLst>
          </p:cNvPr>
          <p:cNvSpPr>
            <a:spLocks noGrp="1"/>
          </p:cNvSpPr>
          <p:nvPr>
            <p:ph type="sldNum" sz="quarter" idx="12"/>
          </p:nvPr>
        </p:nvSpPr>
        <p:spPr/>
        <p:txBody>
          <a:bodyPr/>
          <a:lstStyle/>
          <a:p>
            <a:fld id="{A86F25DE-22B3-4D76-B887-20D39869F498}" type="slidenum">
              <a:rPr lang="en-IN" smtClean="0"/>
              <a:t>‹#›</a:t>
            </a:fld>
            <a:endParaRPr lang="en-IN"/>
          </a:p>
        </p:txBody>
      </p:sp>
    </p:spTree>
    <p:extLst>
      <p:ext uri="{BB962C8B-B14F-4D97-AF65-F5344CB8AC3E}">
        <p14:creationId xmlns:p14="http://schemas.microsoft.com/office/powerpoint/2010/main" val="787706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6D837-63C0-ACA6-8B99-0CD7A054D3C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9671BE3-9430-DAEE-3389-147F64B21D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4EDAF4-8D56-4347-84D5-882CB728E67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6165420-BE7E-DD69-4284-B7D9D5CFA2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1302CB-8551-B21F-D91E-ED52C1E2F0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AA45405-A0F2-1ABF-9BED-F4E7E2A746BF}"/>
              </a:ext>
            </a:extLst>
          </p:cNvPr>
          <p:cNvSpPr>
            <a:spLocks noGrp="1"/>
          </p:cNvSpPr>
          <p:nvPr>
            <p:ph type="dt" sz="half" idx="10"/>
          </p:nvPr>
        </p:nvSpPr>
        <p:spPr/>
        <p:txBody>
          <a:bodyPr/>
          <a:lstStyle/>
          <a:p>
            <a:fld id="{267C2D19-DE67-4CBA-8A2B-1811D65B131A}" type="datetimeFigureOut">
              <a:rPr lang="en-IN" smtClean="0"/>
              <a:t>28-08-2026</a:t>
            </a:fld>
            <a:endParaRPr lang="en-IN"/>
          </a:p>
        </p:txBody>
      </p:sp>
      <p:sp>
        <p:nvSpPr>
          <p:cNvPr id="8" name="Footer Placeholder 7">
            <a:extLst>
              <a:ext uri="{FF2B5EF4-FFF2-40B4-BE49-F238E27FC236}">
                <a16:creationId xmlns:a16="http://schemas.microsoft.com/office/drawing/2014/main" id="{A2F034BA-9A85-A842-55F2-BBF830AAFEF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6797E91-399A-DE58-8D09-1ABFB8CAFBD4}"/>
              </a:ext>
            </a:extLst>
          </p:cNvPr>
          <p:cNvSpPr>
            <a:spLocks noGrp="1"/>
          </p:cNvSpPr>
          <p:nvPr>
            <p:ph type="sldNum" sz="quarter" idx="12"/>
          </p:nvPr>
        </p:nvSpPr>
        <p:spPr/>
        <p:txBody>
          <a:bodyPr/>
          <a:lstStyle/>
          <a:p>
            <a:fld id="{A86F25DE-22B3-4D76-B887-20D39869F498}" type="slidenum">
              <a:rPr lang="en-IN" smtClean="0"/>
              <a:t>‹#›</a:t>
            </a:fld>
            <a:endParaRPr lang="en-IN"/>
          </a:p>
        </p:txBody>
      </p:sp>
    </p:spTree>
    <p:extLst>
      <p:ext uri="{BB962C8B-B14F-4D97-AF65-F5344CB8AC3E}">
        <p14:creationId xmlns:p14="http://schemas.microsoft.com/office/powerpoint/2010/main" val="131462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6ECD5-36B5-9CAE-E7B1-D32A1E14489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A6831C9-50FE-56F0-D510-4F9615265A1C}"/>
              </a:ext>
            </a:extLst>
          </p:cNvPr>
          <p:cNvSpPr>
            <a:spLocks noGrp="1"/>
          </p:cNvSpPr>
          <p:nvPr>
            <p:ph type="dt" sz="half" idx="10"/>
          </p:nvPr>
        </p:nvSpPr>
        <p:spPr/>
        <p:txBody>
          <a:bodyPr/>
          <a:lstStyle/>
          <a:p>
            <a:fld id="{267C2D19-DE67-4CBA-8A2B-1811D65B131A}" type="datetimeFigureOut">
              <a:rPr lang="en-IN" smtClean="0"/>
              <a:t>28-08-2026</a:t>
            </a:fld>
            <a:endParaRPr lang="en-IN"/>
          </a:p>
        </p:txBody>
      </p:sp>
      <p:sp>
        <p:nvSpPr>
          <p:cNvPr id="4" name="Footer Placeholder 3">
            <a:extLst>
              <a:ext uri="{FF2B5EF4-FFF2-40B4-BE49-F238E27FC236}">
                <a16:creationId xmlns:a16="http://schemas.microsoft.com/office/drawing/2014/main" id="{7F4132CC-C55E-082F-A5FF-69E5089C293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040BAF0-1856-D89A-4B39-94EB789AE3B6}"/>
              </a:ext>
            </a:extLst>
          </p:cNvPr>
          <p:cNvSpPr>
            <a:spLocks noGrp="1"/>
          </p:cNvSpPr>
          <p:nvPr>
            <p:ph type="sldNum" sz="quarter" idx="12"/>
          </p:nvPr>
        </p:nvSpPr>
        <p:spPr/>
        <p:txBody>
          <a:bodyPr/>
          <a:lstStyle/>
          <a:p>
            <a:fld id="{A86F25DE-22B3-4D76-B887-20D39869F498}" type="slidenum">
              <a:rPr lang="en-IN" smtClean="0"/>
              <a:t>‹#›</a:t>
            </a:fld>
            <a:endParaRPr lang="en-IN"/>
          </a:p>
        </p:txBody>
      </p:sp>
    </p:spTree>
    <p:extLst>
      <p:ext uri="{BB962C8B-B14F-4D97-AF65-F5344CB8AC3E}">
        <p14:creationId xmlns:p14="http://schemas.microsoft.com/office/powerpoint/2010/main" val="1926315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507DE5-4DA9-657A-9991-8F3FBC232C2D}"/>
              </a:ext>
            </a:extLst>
          </p:cNvPr>
          <p:cNvSpPr>
            <a:spLocks noGrp="1"/>
          </p:cNvSpPr>
          <p:nvPr>
            <p:ph type="dt" sz="half" idx="10"/>
          </p:nvPr>
        </p:nvSpPr>
        <p:spPr/>
        <p:txBody>
          <a:bodyPr/>
          <a:lstStyle/>
          <a:p>
            <a:fld id="{267C2D19-DE67-4CBA-8A2B-1811D65B131A}" type="datetimeFigureOut">
              <a:rPr lang="en-IN" smtClean="0"/>
              <a:t>28-08-2026</a:t>
            </a:fld>
            <a:endParaRPr lang="en-IN"/>
          </a:p>
        </p:txBody>
      </p:sp>
      <p:sp>
        <p:nvSpPr>
          <p:cNvPr id="3" name="Footer Placeholder 2">
            <a:extLst>
              <a:ext uri="{FF2B5EF4-FFF2-40B4-BE49-F238E27FC236}">
                <a16:creationId xmlns:a16="http://schemas.microsoft.com/office/drawing/2014/main" id="{490885A9-06F5-62BA-C266-B93DCABC693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39B5DAE-2CE9-842E-2D8D-FE26E9AFC42B}"/>
              </a:ext>
            </a:extLst>
          </p:cNvPr>
          <p:cNvSpPr>
            <a:spLocks noGrp="1"/>
          </p:cNvSpPr>
          <p:nvPr>
            <p:ph type="sldNum" sz="quarter" idx="12"/>
          </p:nvPr>
        </p:nvSpPr>
        <p:spPr/>
        <p:txBody>
          <a:bodyPr/>
          <a:lstStyle/>
          <a:p>
            <a:fld id="{A86F25DE-22B3-4D76-B887-20D39869F498}" type="slidenum">
              <a:rPr lang="en-IN" smtClean="0"/>
              <a:t>‹#›</a:t>
            </a:fld>
            <a:endParaRPr lang="en-IN"/>
          </a:p>
        </p:txBody>
      </p:sp>
    </p:spTree>
    <p:extLst>
      <p:ext uri="{BB962C8B-B14F-4D97-AF65-F5344CB8AC3E}">
        <p14:creationId xmlns:p14="http://schemas.microsoft.com/office/powerpoint/2010/main" val="1838007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B2173-5151-6EBB-1D77-58D494136E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C54D6FA-559B-B542-68BC-2092F8209F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8A0FC29-B789-41D4-D981-4B7D371FEE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C57A-61CB-4148-F76F-42F13E905626}"/>
              </a:ext>
            </a:extLst>
          </p:cNvPr>
          <p:cNvSpPr>
            <a:spLocks noGrp="1"/>
          </p:cNvSpPr>
          <p:nvPr>
            <p:ph type="dt" sz="half" idx="10"/>
          </p:nvPr>
        </p:nvSpPr>
        <p:spPr/>
        <p:txBody>
          <a:bodyPr/>
          <a:lstStyle/>
          <a:p>
            <a:fld id="{267C2D19-DE67-4CBA-8A2B-1811D65B131A}" type="datetimeFigureOut">
              <a:rPr lang="en-IN" smtClean="0"/>
              <a:t>28-08-2026</a:t>
            </a:fld>
            <a:endParaRPr lang="en-IN"/>
          </a:p>
        </p:txBody>
      </p:sp>
      <p:sp>
        <p:nvSpPr>
          <p:cNvPr id="6" name="Footer Placeholder 5">
            <a:extLst>
              <a:ext uri="{FF2B5EF4-FFF2-40B4-BE49-F238E27FC236}">
                <a16:creationId xmlns:a16="http://schemas.microsoft.com/office/drawing/2014/main" id="{DDF7DD95-A286-6C82-21D6-333EBBD750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ED81E1-CA53-5663-16FF-870DAF58A710}"/>
              </a:ext>
            </a:extLst>
          </p:cNvPr>
          <p:cNvSpPr>
            <a:spLocks noGrp="1"/>
          </p:cNvSpPr>
          <p:nvPr>
            <p:ph type="sldNum" sz="quarter" idx="12"/>
          </p:nvPr>
        </p:nvSpPr>
        <p:spPr/>
        <p:txBody>
          <a:bodyPr/>
          <a:lstStyle/>
          <a:p>
            <a:fld id="{A86F25DE-22B3-4D76-B887-20D39869F498}" type="slidenum">
              <a:rPr lang="en-IN" smtClean="0"/>
              <a:t>‹#›</a:t>
            </a:fld>
            <a:endParaRPr lang="en-IN"/>
          </a:p>
        </p:txBody>
      </p:sp>
    </p:spTree>
    <p:extLst>
      <p:ext uri="{BB962C8B-B14F-4D97-AF65-F5344CB8AC3E}">
        <p14:creationId xmlns:p14="http://schemas.microsoft.com/office/powerpoint/2010/main" val="484962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B0758-92EC-0E7D-3127-D3FE44727E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776411D-0B17-4D32-A624-2CC251984D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5FCCDE4-A7D3-4C2C-06F5-DB17B4D441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10E172-6248-344A-5A2C-E98D4978EFA6}"/>
              </a:ext>
            </a:extLst>
          </p:cNvPr>
          <p:cNvSpPr>
            <a:spLocks noGrp="1"/>
          </p:cNvSpPr>
          <p:nvPr>
            <p:ph type="dt" sz="half" idx="10"/>
          </p:nvPr>
        </p:nvSpPr>
        <p:spPr/>
        <p:txBody>
          <a:bodyPr/>
          <a:lstStyle/>
          <a:p>
            <a:fld id="{267C2D19-DE67-4CBA-8A2B-1811D65B131A}" type="datetimeFigureOut">
              <a:rPr lang="en-IN" smtClean="0"/>
              <a:t>28-08-2026</a:t>
            </a:fld>
            <a:endParaRPr lang="en-IN"/>
          </a:p>
        </p:txBody>
      </p:sp>
      <p:sp>
        <p:nvSpPr>
          <p:cNvPr id="6" name="Footer Placeholder 5">
            <a:extLst>
              <a:ext uri="{FF2B5EF4-FFF2-40B4-BE49-F238E27FC236}">
                <a16:creationId xmlns:a16="http://schemas.microsoft.com/office/drawing/2014/main" id="{C6417C60-4A09-258D-E8C3-9A93559D8D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247631-76FB-E472-D11A-59AAE89479DA}"/>
              </a:ext>
            </a:extLst>
          </p:cNvPr>
          <p:cNvSpPr>
            <a:spLocks noGrp="1"/>
          </p:cNvSpPr>
          <p:nvPr>
            <p:ph type="sldNum" sz="quarter" idx="12"/>
          </p:nvPr>
        </p:nvSpPr>
        <p:spPr/>
        <p:txBody>
          <a:bodyPr/>
          <a:lstStyle/>
          <a:p>
            <a:fld id="{A86F25DE-22B3-4D76-B887-20D39869F498}" type="slidenum">
              <a:rPr lang="en-IN" smtClean="0"/>
              <a:t>‹#›</a:t>
            </a:fld>
            <a:endParaRPr lang="en-IN"/>
          </a:p>
        </p:txBody>
      </p:sp>
    </p:spTree>
    <p:extLst>
      <p:ext uri="{BB962C8B-B14F-4D97-AF65-F5344CB8AC3E}">
        <p14:creationId xmlns:p14="http://schemas.microsoft.com/office/powerpoint/2010/main" val="1478977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D5398-7601-ECA5-5B89-2E6DA645D9E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1FE3CD-CCAE-5C63-29FF-8706748673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BB1881-F37E-C750-BD7A-1D984D8BC7BC}"/>
              </a:ext>
            </a:extLst>
          </p:cNvPr>
          <p:cNvSpPr>
            <a:spLocks noGrp="1"/>
          </p:cNvSpPr>
          <p:nvPr>
            <p:ph type="dt" sz="half" idx="10"/>
          </p:nvPr>
        </p:nvSpPr>
        <p:spPr/>
        <p:txBody>
          <a:bodyPr/>
          <a:lstStyle/>
          <a:p>
            <a:fld id="{267C2D19-DE67-4CBA-8A2B-1811D65B131A}" type="datetimeFigureOut">
              <a:rPr lang="en-IN" smtClean="0"/>
              <a:t>28-08-2026</a:t>
            </a:fld>
            <a:endParaRPr lang="en-IN"/>
          </a:p>
        </p:txBody>
      </p:sp>
      <p:sp>
        <p:nvSpPr>
          <p:cNvPr id="5" name="Footer Placeholder 4">
            <a:extLst>
              <a:ext uri="{FF2B5EF4-FFF2-40B4-BE49-F238E27FC236}">
                <a16:creationId xmlns:a16="http://schemas.microsoft.com/office/drawing/2014/main" id="{78BA9D06-17F8-AA2A-6903-78C1364867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B809AF-FC81-3D65-98CA-825F7FC6A52C}"/>
              </a:ext>
            </a:extLst>
          </p:cNvPr>
          <p:cNvSpPr>
            <a:spLocks noGrp="1"/>
          </p:cNvSpPr>
          <p:nvPr>
            <p:ph type="sldNum" sz="quarter" idx="12"/>
          </p:nvPr>
        </p:nvSpPr>
        <p:spPr/>
        <p:txBody>
          <a:bodyPr/>
          <a:lstStyle/>
          <a:p>
            <a:fld id="{A86F25DE-22B3-4D76-B887-20D39869F498}" type="slidenum">
              <a:rPr lang="en-IN" smtClean="0"/>
              <a:t>‹#›</a:t>
            </a:fld>
            <a:endParaRPr lang="en-IN"/>
          </a:p>
        </p:txBody>
      </p:sp>
    </p:spTree>
    <p:extLst>
      <p:ext uri="{BB962C8B-B14F-4D97-AF65-F5344CB8AC3E}">
        <p14:creationId xmlns:p14="http://schemas.microsoft.com/office/powerpoint/2010/main" val="1840283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B7B9F9-1049-850B-E0F2-FF49BF4233C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094211-54A1-85D6-E43F-733C6980B1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557C3A-4C7E-7C0D-863B-952CC4B4805D}"/>
              </a:ext>
            </a:extLst>
          </p:cNvPr>
          <p:cNvSpPr>
            <a:spLocks noGrp="1"/>
          </p:cNvSpPr>
          <p:nvPr>
            <p:ph type="dt" sz="half" idx="10"/>
          </p:nvPr>
        </p:nvSpPr>
        <p:spPr/>
        <p:txBody>
          <a:bodyPr/>
          <a:lstStyle/>
          <a:p>
            <a:fld id="{267C2D19-DE67-4CBA-8A2B-1811D65B131A}" type="datetimeFigureOut">
              <a:rPr lang="en-IN" smtClean="0"/>
              <a:t>28-08-2026</a:t>
            </a:fld>
            <a:endParaRPr lang="en-IN"/>
          </a:p>
        </p:txBody>
      </p:sp>
      <p:sp>
        <p:nvSpPr>
          <p:cNvPr id="5" name="Footer Placeholder 4">
            <a:extLst>
              <a:ext uri="{FF2B5EF4-FFF2-40B4-BE49-F238E27FC236}">
                <a16:creationId xmlns:a16="http://schemas.microsoft.com/office/drawing/2014/main" id="{5DA0F107-500F-F4CC-A3B8-BD4DE3F404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526B27-2D31-E663-7094-B63B56807034}"/>
              </a:ext>
            </a:extLst>
          </p:cNvPr>
          <p:cNvSpPr>
            <a:spLocks noGrp="1"/>
          </p:cNvSpPr>
          <p:nvPr>
            <p:ph type="sldNum" sz="quarter" idx="12"/>
          </p:nvPr>
        </p:nvSpPr>
        <p:spPr/>
        <p:txBody>
          <a:bodyPr/>
          <a:lstStyle/>
          <a:p>
            <a:fld id="{A86F25DE-22B3-4D76-B887-20D39869F498}" type="slidenum">
              <a:rPr lang="en-IN" smtClean="0"/>
              <a:t>‹#›</a:t>
            </a:fld>
            <a:endParaRPr lang="en-IN"/>
          </a:p>
        </p:txBody>
      </p:sp>
    </p:spTree>
    <p:extLst>
      <p:ext uri="{BB962C8B-B14F-4D97-AF65-F5344CB8AC3E}">
        <p14:creationId xmlns:p14="http://schemas.microsoft.com/office/powerpoint/2010/main" val="482959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39E3E0-FB8F-4D89-FA69-C3EFEDCD5C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D912EE-6396-6955-146C-C50237DF8D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D7DFFF-E806-F26B-01CB-3FC8D33749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7C2D19-DE67-4CBA-8A2B-1811D65B131A}" type="datetimeFigureOut">
              <a:rPr lang="en-IN" smtClean="0"/>
              <a:t>28-08-2026</a:t>
            </a:fld>
            <a:endParaRPr lang="en-IN"/>
          </a:p>
        </p:txBody>
      </p:sp>
      <p:sp>
        <p:nvSpPr>
          <p:cNvPr id="5" name="Footer Placeholder 4">
            <a:extLst>
              <a:ext uri="{FF2B5EF4-FFF2-40B4-BE49-F238E27FC236}">
                <a16:creationId xmlns:a16="http://schemas.microsoft.com/office/drawing/2014/main" id="{F53F4668-72AA-8227-FC12-AE24A43319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EF479A5-E7CB-3721-DB9C-E9DDC24152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6F25DE-22B3-4D76-B887-20D39869F498}" type="slidenum">
              <a:rPr lang="en-IN" smtClean="0"/>
              <a:t>‹#›</a:t>
            </a:fld>
            <a:endParaRPr lang="en-IN"/>
          </a:p>
        </p:txBody>
      </p:sp>
    </p:spTree>
    <p:extLst>
      <p:ext uri="{BB962C8B-B14F-4D97-AF65-F5344CB8AC3E}">
        <p14:creationId xmlns:p14="http://schemas.microsoft.com/office/powerpoint/2010/main" val="14917866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3.jpg"/><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ACAB06-6FE4-6F7B-67EA-A7E1311AB337}"/>
              </a:ext>
            </a:extLst>
          </p:cNvPr>
          <p:cNvSpPr txBox="1"/>
          <p:nvPr/>
        </p:nvSpPr>
        <p:spPr>
          <a:xfrm>
            <a:off x="602902" y="1637881"/>
            <a:ext cx="11267206" cy="1323439"/>
          </a:xfrm>
          <a:prstGeom prst="rect">
            <a:avLst/>
          </a:prstGeom>
          <a:noFill/>
        </p:spPr>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Smart Student Skill Exchange Platform Using Graphs and Hash Tables</a:t>
            </a:r>
            <a:endParaRPr lang="en-IN" sz="4000" b="1" dirty="0">
              <a:latin typeface="Times New Roman" panose="02020603050405020304" pitchFamily="18" charset="0"/>
              <a:cs typeface="Times New Roman" panose="02020603050405020304" pitchFamily="18" charset="0"/>
            </a:endParaRPr>
          </a:p>
        </p:txBody>
      </p:sp>
      <p:pic>
        <p:nvPicPr>
          <p:cNvPr id="4" name="Google Shape;45;p1">
            <a:extLst>
              <a:ext uri="{FF2B5EF4-FFF2-40B4-BE49-F238E27FC236}">
                <a16:creationId xmlns:a16="http://schemas.microsoft.com/office/drawing/2014/main" id="{1D824653-E664-2C2A-731A-3A61EDEB18C4}"/>
              </a:ext>
            </a:extLst>
          </p:cNvPr>
          <p:cNvPicPr preferRelativeResize="0"/>
          <p:nvPr/>
        </p:nvPicPr>
        <p:blipFill rotWithShape="1">
          <a:blip r:embed="rId2"/>
          <a:srcRect/>
          <a:stretch>
            <a:fillRect/>
          </a:stretch>
        </p:blipFill>
        <p:spPr>
          <a:xfrm>
            <a:off x="506663" y="167882"/>
            <a:ext cx="11178674" cy="1266586"/>
          </a:xfrm>
          <a:prstGeom prst="rect">
            <a:avLst/>
          </a:prstGeom>
          <a:noFill/>
          <a:ln>
            <a:noFill/>
          </a:ln>
        </p:spPr>
      </p:pic>
      <p:sp>
        <p:nvSpPr>
          <p:cNvPr id="3" name="Rectangle 2"/>
          <p:cNvSpPr/>
          <p:nvPr/>
        </p:nvSpPr>
        <p:spPr>
          <a:xfrm>
            <a:off x="4416790" y="3244334"/>
            <a:ext cx="3358419" cy="369332"/>
          </a:xfrm>
          <a:prstGeom prst="rect">
            <a:avLst/>
          </a:prstGeom>
        </p:spPr>
        <p:txBody>
          <a:bodyPr wrap="none">
            <a:spAutoFit/>
          </a:bodyPr>
          <a:lstStyle/>
          <a:p>
            <a:pPr algn="ctr"/>
            <a:r>
              <a:rPr lang="en-IN" b="1" dirty="0">
                <a:solidFill>
                  <a:schemeClr val="accent6">
                    <a:lumMod val="75000"/>
                  </a:schemeClr>
                </a:solidFill>
                <a:latin typeface="Cambria" panose="02040503050406030204" pitchFamily="18" charset="0"/>
                <a:ea typeface="Cambria" panose="02040503050406030204" pitchFamily="18" charset="0"/>
                <a:cs typeface="Times New Roman" panose="02020603050405020304" pitchFamily="18" charset="0"/>
              </a:rPr>
              <a:t>CSA0309 – DATA STRUCTURES</a:t>
            </a:r>
          </a:p>
        </p:txBody>
      </p:sp>
      <p:sp>
        <p:nvSpPr>
          <p:cNvPr id="5" name="Rectangle 4"/>
          <p:cNvSpPr/>
          <p:nvPr/>
        </p:nvSpPr>
        <p:spPr>
          <a:xfrm>
            <a:off x="7332291" y="4748202"/>
            <a:ext cx="4353045" cy="1015663"/>
          </a:xfrm>
          <a:prstGeom prst="rect">
            <a:avLst/>
          </a:prstGeom>
        </p:spPr>
        <p:txBody>
          <a:bodyPr wrap="square">
            <a:spAutoFit/>
          </a:bodyPr>
          <a:lstStyle/>
          <a:p>
            <a:pPr>
              <a:defRPr sz="2600">
                <a:latin typeface="Times New Roman"/>
                <a:ea typeface="Times New Roman"/>
                <a:cs typeface="Times New Roman"/>
                <a:sym typeface="Times New Roman"/>
              </a:defRPr>
            </a:pPr>
            <a:r>
              <a:rPr lang="en-US" sz="2000" b="1" dirty="0">
                <a:solidFill>
                  <a:srgbClr val="7030A0"/>
                </a:solidFill>
                <a:latin typeface="Times New Roman" pitchFamily="18" charset="0"/>
                <a:ea typeface="Cambria" panose="02040503050406030204" pitchFamily="18" charset="0"/>
                <a:cs typeface="Times New Roman" pitchFamily="18" charset="0"/>
              </a:rPr>
              <a:t>GUIDED BY:</a:t>
            </a:r>
            <a:br>
              <a:rPr lang="en-US" sz="2000" dirty="0">
                <a:solidFill>
                  <a:srgbClr val="7030A0"/>
                </a:solidFill>
                <a:latin typeface="Times New Roman" pitchFamily="18" charset="0"/>
                <a:ea typeface="Cambria" panose="02040503050406030204" pitchFamily="18" charset="0"/>
                <a:cs typeface="Times New Roman" pitchFamily="18" charset="0"/>
              </a:rPr>
            </a:br>
            <a:r>
              <a:rPr lang="en-US" sz="2000" dirty="0">
                <a:solidFill>
                  <a:srgbClr val="7030A0"/>
                </a:solidFill>
                <a:latin typeface="Times New Roman" pitchFamily="18" charset="0"/>
                <a:ea typeface="Cambria" panose="02040503050406030204" pitchFamily="18" charset="0"/>
                <a:cs typeface="Times New Roman" pitchFamily="18" charset="0"/>
              </a:rPr>
              <a:t>        </a:t>
            </a:r>
            <a:r>
              <a:rPr lang="en-US" sz="2000" dirty="0">
                <a:solidFill>
                  <a:srgbClr val="00B050"/>
                </a:solidFill>
                <a:latin typeface="Times New Roman" pitchFamily="18" charset="0"/>
                <a:ea typeface="Cambria" panose="02040503050406030204" pitchFamily="18" charset="0"/>
                <a:cs typeface="Times New Roman" pitchFamily="18" charset="0"/>
              </a:rPr>
              <a:t>Dr. Uma </a:t>
            </a:r>
            <a:r>
              <a:rPr lang="en-US" sz="2000" dirty="0" err="1">
                <a:solidFill>
                  <a:srgbClr val="00B050"/>
                </a:solidFill>
                <a:latin typeface="Times New Roman" pitchFamily="18" charset="0"/>
                <a:ea typeface="Cambria" panose="02040503050406030204" pitchFamily="18" charset="0"/>
                <a:cs typeface="Times New Roman" pitchFamily="18" charset="0"/>
              </a:rPr>
              <a:t>Priyadarsini</a:t>
            </a:r>
            <a:r>
              <a:rPr lang="en-US" sz="2000" dirty="0">
                <a:solidFill>
                  <a:srgbClr val="00B050"/>
                </a:solidFill>
                <a:latin typeface="Times New Roman" pitchFamily="18" charset="0"/>
                <a:ea typeface="Cambria" panose="02040503050406030204" pitchFamily="18" charset="0"/>
                <a:cs typeface="Times New Roman" pitchFamily="18" charset="0"/>
              </a:rPr>
              <a:t> P.S, </a:t>
            </a:r>
          </a:p>
          <a:p>
            <a:pPr>
              <a:defRPr sz="2600">
                <a:latin typeface="Times New Roman"/>
                <a:ea typeface="Times New Roman"/>
                <a:cs typeface="Times New Roman"/>
                <a:sym typeface="Times New Roman"/>
              </a:defRPr>
            </a:pPr>
            <a:r>
              <a:rPr lang="en-US" sz="2000" dirty="0">
                <a:solidFill>
                  <a:srgbClr val="00B050"/>
                </a:solidFill>
                <a:latin typeface="Times New Roman" pitchFamily="18" charset="0"/>
                <a:ea typeface="Cambria" panose="02040503050406030204" pitchFamily="18" charset="0"/>
                <a:cs typeface="Times New Roman" pitchFamily="18" charset="0"/>
                <a:sym typeface="Times New Roman"/>
              </a:rPr>
              <a:t>        Professor, SIMATS Engineering</a:t>
            </a:r>
            <a:endParaRPr lang="en-US" sz="2000" dirty="0">
              <a:solidFill>
                <a:srgbClr val="00B050"/>
              </a:solidFill>
              <a:latin typeface="Times New Roman" pitchFamily="18" charset="0"/>
              <a:ea typeface="Cambria" panose="02040503050406030204" pitchFamily="18" charset="0"/>
              <a:cs typeface="Times New Roman" pitchFamily="18" charset="0"/>
            </a:endParaRPr>
          </a:p>
        </p:txBody>
      </p:sp>
      <p:sp>
        <p:nvSpPr>
          <p:cNvPr id="6" name="Rectangle 5"/>
          <p:cNvSpPr/>
          <p:nvPr/>
        </p:nvSpPr>
        <p:spPr>
          <a:xfrm>
            <a:off x="881335" y="4806818"/>
            <a:ext cx="3031599" cy="1754326"/>
          </a:xfrm>
          <a:prstGeom prst="rect">
            <a:avLst/>
          </a:prstGeom>
        </p:spPr>
        <p:txBody>
          <a:bodyPr wrap="none">
            <a:spAutoFit/>
          </a:bodyPr>
          <a:lstStyle/>
          <a:p>
            <a:r>
              <a:rPr lang="en-US" b="1" dirty="0">
                <a:solidFill>
                  <a:srgbClr val="7030A0"/>
                </a:solidFill>
                <a:latin typeface="Cambria" panose="02040503050406030204" pitchFamily="18" charset="0"/>
                <a:ea typeface="Cambria" panose="02040503050406030204" pitchFamily="18" charset="0"/>
                <a:cs typeface="Times New Roman" panose="02020603050405020304" pitchFamily="18" charset="0"/>
              </a:rPr>
              <a:t>PRESENTED BY:</a:t>
            </a:r>
          </a:p>
          <a:p>
            <a:r>
              <a:rPr lang="en-US" b="1" dirty="0">
                <a:solidFill>
                  <a:srgbClr val="7030A0"/>
                </a:solidFill>
                <a:latin typeface="Cambria" panose="02040503050406030204" pitchFamily="18" charset="0"/>
                <a:ea typeface="Cambria" panose="02040503050406030204" pitchFamily="18" charset="0"/>
                <a:cs typeface="Times New Roman" panose="02020603050405020304" pitchFamily="18" charset="0"/>
              </a:rPr>
              <a:t>B Sathvika(192525224)</a:t>
            </a:r>
          </a:p>
          <a:p>
            <a:r>
              <a:rPr lang="en-US" b="1" dirty="0">
                <a:solidFill>
                  <a:srgbClr val="7030A0"/>
                </a:solidFill>
                <a:latin typeface="Cambria" panose="02040503050406030204" pitchFamily="18" charset="0"/>
                <a:ea typeface="Cambria" panose="02040503050406030204" pitchFamily="18" charset="0"/>
                <a:cs typeface="Times New Roman" panose="02020603050405020304" pitchFamily="18" charset="0"/>
              </a:rPr>
              <a:t>Mahalakshmi(192521155)</a:t>
            </a:r>
          </a:p>
          <a:p>
            <a:r>
              <a:rPr lang="en-US" b="1" dirty="0">
                <a:solidFill>
                  <a:srgbClr val="7030A0"/>
                </a:solidFill>
                <a:latin typeface="Cambria" panose="02040503050406030204" pitchFamily="18" charset="0"/>
                <a:ea typeface="Cambria" panose="02040503050406030204" pitchFamily="18" charset="0"/>
                <a:cs typeface="Times New Roman" panose="02020603050405020304" pitchFamily="18" charset="0"/>
              </a:rPr>
              <a:t>Ragavi K (192524394)</a:t>
            </a:r>
          </a:p>
          <a:p>
            <a:r>
              <a:rPr lang="en-US" b="1" dirty="0" err="1">
                <a:solidFill>
                  <a:srgbClr val="7030A0"/>
                </a:solidFill>
                <a:latin typeface="Cambria" panose="02040503050406030204" pitchFamily="18" charset="0"/>
                <a:ea typeface="Cambria" panose="02040503050406030204" pitchFamily="18" charset="0"/>
                <a:cs typeface="Times New Roman" panose="02020603050405020304" pitchFamily="18" charset="0"/>
              </a:rPr>
              <a:t>Prena</a:t>
            </a:r>
            <a:r>
              <a:rPr lang="en-US" b="1" dirty="0">
                <a:solidFill>
                  <a:srgbClr val="7030A0"/>
                </a:solidFill>
                <a:latin typeface="Cambria" panose="02040503050406030204" pitchFamily="18" charset="0"/>
                <a:ea typeface="Cambria" panose="02040503050406030204" pitchFamily="18" charset="0"/>
                <a:cs typeface="Times New Roman" panose="02020603050405020304" pitchFamily="18" charset="0"/>
              </a:rPr>
              <a:t> M(192524057) </a:t>
            </a:r>
          </a:p>
          <a:p>
            <a:endParaRPr lang="en-US" b="1" dirty="0">
              <a:solidFill>
                <a:srgbClr val="7030A0"/>
              </a:solidFill>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518881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E55F8A-039D-9A9E-AC3B-D3B012A8262F}"/>
              </a:ext>
            </a:extLst>
          </p:cNvPr>
          <p:cNvSpPr txBox="1"/>
          <p:nvPr/>
        </p:nvSpPr>
        <p:spPr>
          <a:xfrm>
            <a:off x="4645250" y="836797"/>
            <a:ext cx="2610130"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ABSTRACT</a:t>
            </a:r>
            <a:endParaRPr lang="en-IN" sz="3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5DBD343-7D37-AAA8-A9D4-A717FB613578}"/>
              </a:ext>
            </a:extLst>
          </p:cNvPr>
          <p:cNvSpPr txBox="1"/>
          <p:nvPr/>
        </p:nvSpPr>
        <p:spPr>
          <a:xfrm>
            <a:off x="1017092" y="2128936"/>
            <a:ext cx="10339753" cy="289932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Develops a smart platform where students can share and learn skills from one another.</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Uses Hash Tables to store and retrieve student profiles and skills quickly.</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Uses Graphs to connect students based on their skills and learning interests.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Recommends suitable learning partners for effective collaboration and knowledge exchange</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Improves peer learning, communication, and skill development through an efficient and user-friendly system.</a:t>
            </a:r>
            <a:endParaRPr lang="en-IN" sz="2000" dirty="0">
              <a:latin typeface="Times New Roman" panose="02020603050405020304" pitchFamily="18" charset="0"/>
              <a:cs typeface="Times New Roman" panose="02020603050405020304" pitchFamily="18" charset="0"/>
            </a:endParaRPr>
          </a:p>
        </p:txBody>
      </p:sp>
      <p:pic>
        <p:nvPicPr>
          <p:cNvPr id="6" name="object 3">
            <a:extLst>
              <a:ext uri="{FF2B5EF4-FFF2-40B4-BE49-F238E27FC236}">
                <a16:creationId xmlns:a16="http://schemas.microsoft.com/office/drawing/2014/main" id="{9C240479-F757-E5C0-5664-790CE6214E86}"/>
              </a:ext>
            </a:extLst>
          </p:cNvPr>
          <p:cNvPicPr/>
          <p:nvPr/>
        </p:nvPicPr>
        <p:blipFill>
          <a:blip r:embed="rId2" cstate="print"/>
          <a:stretch>
            <a:fillRect/>
          </a:stretch>
        </p:blipFill>
        <p:spPr>
          <a:xfrm>
            <a:off x="344593" y="228176"/>
            <a:ext cx="987213" cy="1133475"/>
          </a:xfrm>
          <a:prstGeom prst="rect">
            <a:avLst/>
          </a:prstGeom>
        </p:spPr>
      </p:pic>
      <p:pic>
        <p:nvPicPr>
          <p:cNvPr id="7" name="object 4">
            <a:extLst>
              <a:ext uri="{FF2B5EF4-FFF2-40B4-BE49-F238E27FC236}">
                <a16:creationId xmlns:a16="http://schemas.microsoft.com/office/drawing/2014/main" id="{40DA8358-CABE-4480-48E4-FFB95D587150}"/>
              </a:ext>
            </a:extLst>
          </p:cNvPr>
          <p:cNvPicPr/>
          <p:nvPr/>
        </p:nvPicPr>
        <p:blipFill>
          <a:blip r:embed="rId3" cstate="print"/>
          <a:stretch>
            <a:fillRect/>
          </a:stretch>
        </p:blipFill>
        <p:spPr>
          <a:xfrm>
            <a:off x="10368979" y="303397"/>
            <a:ext cx="1419225" cy="1066800"/>
          </a:xfrm>
          <a:prstGeom prst="rect">
            <a:avLst/>
          </a:prstGeom>
        </p:spPr>
      </p:pic>
    </p:spTree>
    <p:extLst>
      <p:ext uri="{BB962C8B-B14F-4D97-AF65-F5344CB8AC3E}">
        <p14:creationId xmlns:p14="http://schemas.microsoft.com/office/powerpoint/2010/main" val="2147670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4F2FFC9-AA2D-7106-E187-5580F305FAAF}"/>
              </a:ext>
            </a:extLst>
          </p:cNvPr>
          <p:cNvSpPr txBox="1"/>
          <p:nvPr/>
        </p:nvSpPr>
        <p:spPr>
          <a:xfrm>
            <a:off x="4351875" y="974221"/>
            <a:ext cx="3057247"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INTRODUCTION</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69A223C-3019-F9E1-0FBB-69AE45A83637}"/>
              </a:ext>
            </a:extLst>
          </p:cNvPr>
          <p:cNvSpPr txBox="1"/>
          <p:nvPr/>
        </p:nvSpPr>
        <p:spPr>
          <a:xfrm>
            <a:off x="914400" y="2038407"/>
            <a:ext cx="10420142" cy="4191981"/>
          </a:xfrm>
          <a:prstGeom prst="rect">
            <a:avLst/>
          </a:prstGeom>
          <a:noFill/>
        </p:spPr>
        <p:txBody>
          <a:bodyPr wrap="square" rtlCol="0">
            <a:spAutoFit/>
          </a:bodyPr>
          <a:lstStyle/>
          <a:p>
            <a:pPr marL="285750" indent="-285750">
              <a:lnSpc>
                <a:spcPct val="150000"/>
              </a:lnSpc>
              <a:buFont typeface="Arial" pitchFamily="34" charset="0"/>
              <a:buChar char="•"/>
            </a:pPr>
            <a:r>
              <a:rPr lang="en-US" dirty="0"/>
              <a:t> </a:t>
            </a:r>
            <a:r>
              <a:rPr lang="en-US" sz="2000" dirty="0">
                <a:latin typeface="Times New Roman" panose="02020603050405020304" pitchFamily="18" charset="0"/>
                <a:cs typeface="Times New Roman" panose="02020603050405020304" pitchFamily="18" charset="0"/>
              </a:rPr>
              <a:t>Many students have useful skills but do not have a proper platform to share or learn them from others.</a:t>
            </a:r>
          </a:p>
          <a:p>
            <a:pPr marL="342900" indent="-342900">
              <a:lnSpc>
                <a:spcPct val="150000"/>
              </a:lnSpc>
              <a:buFont typeface="Arial" pitchFamily="34" charset="0"/>
              <a:buChar char="•"/>
            </a:pPr>
            <a:r>
              <a:rPr lang="en-US" sz="2000" dirty="0">
                <a:latin typeface="Times New Roman" panose="02020603050405020304" pitchFamily="18" charset="0"/>
                <a:cs typeface="Times New Roman" panose="02020603050405020304" pitchFamily="18" charset="0"/>
              </a:rPr>
              <a:t> This project creates a smart platform where students can exchange knowledge and skills with their peers.</a:t>
            </a:r>
          </a:p>
          <a:p>
            <a:pPr marL="342900" indent="-342900">
              <a:lnSpc>
                <a:spcPct val="150000"/>
              </a:lnSpc>
              <a:buFont typeface="Arial" pitchFamily="34" charset="0"/>
              <a:buChar char="•"/>
            </a:pPr>
            <a:r>
              <a:rPr lang="en-US" sz="2000" dirty="0">
                <a:latin typeface="Times New Roman" panose="02020603050405020304" pitchFamily="18" charset="0"/>
                <a:cs typeface="Times New Roman" panose="02020603050405020304" pitchFamily="18" charset="0"/>
              </a:rPr>
              <a:t>Student information and skills are stored using Hash Tables for fast searching and easy access.</a:t>
            </a:r>
          </a:p>
          <a:p>
            <a:pPr marL="342900" indent="-342900">
              <a:lnSpc>
                <a:spcPct val="150000"/>
              </a:lnSpc>
              <a:buFont typeface="Arial" pitchFamily="34" charset="0"/>
              <a:buChar char="•"/>
            </a:pPr>
            <a:r>
              <a:rPr lang="en-US" sz="2000" dirty="0">
                <a:latin typeface="Times New Roman" panose="02020603050405020304" pitchFamily="18" charset="0"/>
                <a:cs typeface="Times New Roman" panose="02020603050405020304" pitchFamily="18" charset="0"/>
              </a:rPr>
              <a:t>Graphs are used to connect students based on their skills and interests, making it easier to find suitable learning partners.</a:t>
            </a:r>
          </a:p>
          <a:p>
            <a:pPr marL="342900" indent="-342900">
              <a:lnSpc>
                <a:spcPct val="150000"/>
              </a:lnSpc>
              <a:buFont typeface="Arial" pitchFamily="34" charset="0"/>
              <a:buChar char="•"/>
            </a:pPr>
            <a:r>
              <a:rPr lang="en-US" sz="2000" dirty="0">
                <a:latin typeface="Times New Roman" panose="02020603050405020304" pitchFamily="18" charset="0"/>
                <a:cs typeface="Times New Roman" panose="02020603050405020304" pitchFamily="18" charset="0"/>
              </a:rPr>
              <a:t>The platform encourages collaboration, improves learning opportunities, and helps students develop new skills efficiently.</a:t>
            </a:r>
            <a:endParaRPr lang="en-IN" sz="2000" dirty="0">
              <a:latin typeface="Times New Roman" panose="02020603050405020304" pitchFamily="18" charset="0"/>
              <a:cs typeface="Times New Roman" panose="02020603050405020304" pitchFamily="18" charset="0"/>
            </a:endParaRPr>
          </a:p>
        </p:txBody>
      </p:sp>
      <p:pic>
        <p:nvPicPr>
          <p:cNvPr id="6" name="object 3">
            <a:extLst>
              <a:ext uri="{FF2B5EF4-FFF2-40B4-BE49-F238E27FC236}">
                <a16:creationId xmlns:a16="http://schemas.microsoft.com/office/drawing/2014/main" id="{9C240479-F757-E5C0-5664-790CE6214E86}"/>
              </a:ext>
            </a:extLst>
          </p:cNvPr>
          <p:cNvPicPr/>
          <p:nvPr/>
        </p:nvPicPr>
        <p:blipFill>
          <a:blip r:embed="rId2" cstate="print"/>
          <a:stretch>
            <a:fillRect/>
          </a:stretch>
        </p:blipFill>
        <p:spPr>
          <a:xfrm>
            <a:off x="344593" y="228176"/>
            <a:ext cx="987213" cy="1133475"/>
          </a:xfrm>
          <a:prstGeom prst="rect">
            <a:avLst/>
          </a:prstGeom>
        </p:spPr>
      </p:pic>
      <p:pic>
        <p:nvPicPr>
          <p:cNvPr id="7" name="object 4">
            <a:extLst>
              <a:ext uri="{FF2B5EF4-FFF2-40B4-BE49-F238E27FC236}">
                <a16:creationId xmlns:a16="http://schemas.microsoft.com/office/drawing/2014/main" id="{40DA8358-CABE-4480-48E4-FFB95D587150}"/>
              </a:ext>
            </a:extLst>
          </p:cNvPr>
          <p:cNvPicPr/>
          <p:nvPr/>
        </p:nvPicPr>
        <p:blipFill>
          <a:blip r:embed="rId3" cstate="print"/>
          <a:stretch>
            <a:fillRect/>
          </a:stretch>
        </p:blipFill>
        <p:spPr>
          <a:xfrm>
            <a:off x="10368979" y="294851"/>
            <a:ext cx="1419225" cy="1066800"/>
          </a:xfrm>
          <a:prstGeom prst="rect">
            <a:avLst/>
          </a:prstGeom>
        </p:spPr>
      </p:pic>
    </p:spTree>
    <p:extLst>
      <p:ext uri="{BB962C8B-B14F-4D97-AF65-F5344CB8AC3E}">
        <p14:creationId xmlns:p14="http://schemas.microsoft.com/office/powerpoint/2010/main" val="2482118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140C55-7CAA-71C2-C5D3-F576A81EC3F6}"/>
              </a:ext>
            </a:extLst>
          </p:cNvPr>
          <p:cNvSpPr txBox="1"/>
          <p:nvPr/>
        </p:nvSpPr>
        <p:spPr>
          <a:xfrm>
            <a:off x="3788135" y="1043430"/>
            <a:ext cx="4521758"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OBJECTIVE</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8A99217-3B33-85EE-4EFB-AF3A2B9F05DE}"/>
              </a:ext>
            </a:extLst>
          </p:cNvPr>
          <p:cNvSpPr txBox="1"/>
          <p:nvPr/>
        </p:nvSpPr>
        <p:spPr>
          <a:xfrm>
            <a:off x="1892002" y="2315114"/>
            <a:ext cx="8621486" cy="3268652"/>
          </a:xfrm>
          <a:prstGeom prst="rect">
            <a:avLst/>
          </a:prstGeom>
          <a:noFill/>
        </p:spPr>
        <p:txBody>
          <a:bodyPr wrap="square" rtlCol="0">
            <a:spAutoFit/>
          </a:bodyPr>
          <a:lstStyle/>
          <a:p>
            <a:pPr marL="342900" indent="-342900">
              <a:lnSpc>
                <a:spcPct val="150000"/>
              </a:lnSpc>
              <a:buFont typeface="Arial" pitchFamily="34" charset="0"/>
              <a:buChar char="•"/>
            </a:pPr>
            <a:r>
              <a:rPr lang="en-US" sz="2000" dirty="0">
                <a:latin typeface="Times New Roman" panose="02020603050405020304" pitchFamily="18" charset="0"/>
                <a:cs typeface="Times New Roman" panose="02020603050405020304" pitchFamily="18" charset="0"/>
              </a:rPr>
              <a:t>To develop a platform where students can share and learn skills from each other.</a:t>
            </a:r>
          </a:p>
          <a:p>
            <a:pPr marL="342900" indent="-342900">
              <a:lnSpc>
                <a:spcPct val="150000"/>
              </a:lnSpc>
              <a:buFont typeface="Arial" pitchFamily="34" charset="0"/>
              <a:buChar char="•"/>
            </a:pPr>
            <a:r>
              <a:rPr lang="en-US" sz="2000" dirty="0">
                <a:latin typeface="Times New Roman" panose="02020603050405020304" pitchFamily="18" charset="0"/>
                <a:cs typeface="Times New Roman" panose="02020603050405020304" pitchFamily="18" charset="0"/>
              </a:rPr>
              <a:t>To store and manage student profiles efficiently using Hash Tables.</a:t>
            </a:r>
          </a:p>
          <a:p>
            <a:pPr marL="342900" indent="-342900">
              <a:lnSpc>
                <a:spcPct val="150000"/>
              </a:lnSpc>
              <a:buFont typeface="Arial" pitchFamily="34" charset="0"/>
              <a:buChar char="•"/>
            </a:pPr>
            <a:r>
              <a:rPr lang="en-US" sz="2000" dirty="0">
                <a:latin typeface="Times New Roman" panose="02020603050405020304" pitchFamily="18" charset="0"/>
                <a:cs typeface="Times New Roman" panose="02020603050405020304" pitchFamily="18" charset="0"/>
              </a:rPr>
              <a:t>To connect students based on their skills and interests using Graphs.</a:t>
            </a:r>
          </a:p>
          <a:p>
            <a:pPr marL="342900" indent="-342900">
              <a:lnSpc>
                <a:spcPct val="150000"/>
              </a:lnSpc>
              <a:buFont typeface="Arial" pitchFamily="34" charset="0"/>
              <a:buChar char="•"/>
            </a:pPr>
            <a:r>
              <a:rPr lang="en-US" sz="2000" dirty="0">
                <a:latin typeface="Times New Roman" panose="02020603050405020304" pitchFamily="18" charset="0"/>
                <a:cs typeface="Times New Roman" panose="02020603050405020304" pitchFamily="18" charset="0"/>
              </a:rPr>
              <a:t>To recommend suitable learning partners for effective skill exchange.</a:t>
            </a:r>
          </a:p>
          <a:p>
            <a:pPr marL="342900" indent="-342900">
              <a:lnSpc>
                <a:spcPct val="150000"/>
              </a:lnSpc>
              <a:buFont typeface="Arial" pitchFamily="34" charset="0"/>
              <a:buChar char="•"/>
            </a:pPr>
            <a:r>
              <a:rPr lang="en-US" sz="2000" dirty="0">
                <a:latin typeface="Times New Roman" panose="02020603050405020304" pitchFamily="18" charset="0"/>
                <a:cs typeface="Times New Roman" panose="02020603050405020304" pitchFamily="18" charset="0"/>
              </a:rPr>
              <a:t>To encourage collaboration, improve knowledge sharing, and enhance student learning.</a:t>
            </a:r>
            <a:endParaRPr lang="en-IN" sz="2000" dirty="0">
              <a:latin typeface="Times New Roman" panose="02020603050405020304" pitchFamily="18" charset="0"/>
              <a:cs typeface="Times New Roman" panose="02020603050405020304" pitchFamily="18" charset="0"/>
            </a:endParaRPr>
          </a:p>
        </p:txBody>
      </p:sp>
      <p:pic>
        <p:nvPicPr>
          <p:cNvPr id="6" name="object 3">
            <a:extLst>
              <a:ext uri="{FF2B5EF4-FFF2-40B4-BE49-F238E27FC236}">
                <a16:creationId xmlns:a16="http://schemas.microsoft.com/office/drawing/2014/main" id="{9C240479-F757-E5C0-5664-790CE6214E86}"/>
              </a:ext>
            </a:extLst>
          </p:cNvPr>
          <p:cNvPicPr/>
          <p:nvPr/>
        </p:nvPicPr>
        <p:blipFill>
          <a:blip r:embed="rId2" cstate="print"/>
          <a:stretch>
            <a:fillRect/>
          </a:stretch>
        </p:blipFill>
        <p:spPr>
          <a:xfrm>
            <a:off x="344593" y="228176"/>
            <a:ext cx="987213" cy="1133475"/>
          </a:xfrm>
          <a:prstGeom prst="rect">
            <a:avLst/>
          </a:prstGeom>
        </p:spPr>
      </p:pic>
      <p:pic>
        <p:nvPicPr>
          <p:cNvPr id="7" name="object 4">
            <a:extLst>
              <a:ext uri="{FF2B5EF4-FFF2-40B4-BE49-F238E27FC236}">
                <a16:creationId xmlns:a16="http://schemas.microsoft.com/office/drawing/2014/main" id="{40DA8358-CABE-4480-48E4-FFB95D587150}"/>
              </a:ext>
            </a:extLst>
          </p:cNvPr>
          <p:cNvPicPr/>
          <p:nvPr/>
        </p:nvPicPr>
        <p:blipFill>
          <a:blip r:embed="rId3" cstate="print"/>
          <a:stretch>
            <a:fillRect/>
          </a:stretch>
        </p:blipFill>
        <p:spPr>
          <a:xfrm>
            <a:off x="10368979" y="294851"/>
            <a:ext cx="1419225" cy="1066800"/>
          </a:xfrm>
          <a:prstGeom prst="rect">
            <a:avLst/>
          </a:prstGeom>
        </p:spPr>
      </p:pic>
    </p:spTree>
    <p:extLst>
      <p:ext uri="{BB962C8B-B14F-4D97-AF65-F5344CB8AC3E}">
        <p14:creationId xmlns:p14="http://schemas.microsoft.com/office/powerpoint/2010/main" val="290483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7">
            <a:extLst>
              <a:ext uri="{FF2B5EF4-FFF2-40B4-BE49-F238E27FC236}">
                <a16:creationId xmlns:a16="http://schemas.microsoft.com/office/drawing/2014/main" id="{21B170BB-7A3C-EFE1-490D-316196D00051}"/>
              </a:ext>
            </a:extLst>
          </p:cNvPr>
          <p:cNvGraphicFramePr>
            <a:graphicFrameLocks/>
          </p:cNvGraphicFramePr>
          <p:nvPr>
            <p:extLst>
              <p:ext uri="{D42A27DB-BD31-4B8C-83A1-F6EECF244321}">
                <p14:modId xmlns:p14="http://schemas.microsoft.com/office/powerpoint/2010/main" val="1842134208"/>
              </p:ext>
            </p:extLst>
          </p:nvPr>
        </p:nvGraphicFramePr>
        <p:xfrm>
          <a:off x="838200" y="1825624"/>
          <a:ext cx="10515597" cy="4378797"/>
        </p:xfrm>
        <a:graphic>
          <a:graphicData uri="http://schemas.openxmlformats.org/drawingml/2006/table">
            <a:tbl>
              <a:tblPr firstRow="1" bandRow="1">
                <a:tableStyleId>{5DA37D80-6434-44D0-A028-1B22A696006F}</a:tableStyleId>
              </a:tblPr>
              <a:tblGrid>
                <a:gridCol w="428111">
                  <a:extLst>
                    <a:ext uri="{9D8B030D-6E8A-4147-A177-3AD203B41FA5}">
                      <a16:colId xmlns:a16="http://schemas.microsoft.com/office/drawing/2014/main" val="3223799631"/>
                    </a:ext>
                  </a:extLst>
                </a:gridCol>
                <a:gridCol w="677013">
                  <a:extLst>
                    <a:ext uri="{9D8B030D-6E8A-4147-A177-3AD203B41FA5}">
                      <a16:colId xmlns:a16="http://schemas.microsoft.com/office/drawing/2014/main" val="1629488728"/>
                    </a:ext>
                  </a:extLst>
                </a:gridCol>
                <a:gridCol w="1449604">
                  <a:extLst>
                    <a:ext uri="{9D8B030D-6E8A-4147-A177-3AD203B41FA5}">
                      <a16:colId xmlns:a16="http://schemas.microsoft.com/office/drawing/2014/main" val="1533181538"/>
                    </a:ext>
                  </a:extLst>
                </a:gridCol>
                <a:gridCol w="1736339">
                  <a:extLst>
                    <a:ext uri="{9D8B030D-6E8A-4147-A177-3AD203B41FA5}">
                      <a16:colId xmlns:a16="http://schemas.microsoft.com/office/drawing/2014/main" val="4011507392"/>
                    </a:ext>
                  </a:extLst>
                </a:gridCol>
                <a:gridCol w="1340981">
                  <a:extLst>
                    <a:ext uri="{9D8B030D-6E8A-4147-A177-3AD203B41FA5}">
                      <a16:colId xmlns:a16="http://schemas.microsoft.com/office/drawing/2014/main" val="1832645610"/>
                    </a:ext>
                  </a:extLst>
                </a:gridCol>
                <a:gridCol w="1720023">
                  <a:extLst>
                    <a:ext uri="{9D8B030D-6E8A-4147-A177-3AD203B41FA5}">
                      <a16:colId xmlns:a16="http://schemas.microsoft.com/office/drawing/2014/main" val="532354565"/>
                    </a:ext>
                  </a:extLst>
                </a:gridCol>
                <a:gridCol w="1582994">
                  <a:extLst>
                    <a:ext uri="{9D8B030D-6E8A-4147-A177-3AD203B41FA5}">
                      <a16:colId xmlns:a16="http://schemas.microsoft.com/office/drawing/2014/main" val="519687855"/>
                    </a:ext>
                  </a:extLst>
                </a:gridCol>
                <a:gridCol w="1580532">
                  <a:extLst>
                    <a:ext uri="{9D8B030D-6E8A-4147-A177-3AD203B41FA5}">
                      <a16:colId xmlns:a16="http://schemas.microsoft.com/office/drawing/2014/main" val="3713718232"/>
                    </a:ext>
                  </a:extLst>
                </a:gridCol>
              </a:tblGrid>
              <a:tr h="898355">
                <a:tc>
                  <a:txBody>
                    <a:bodyPr/>
                    <a:lstStyle/>
                    <a:p>
                      <a:pPr algn="ctr"/>
                      <a:r>
                        <a:rPr lang="en-US" sz="1200" dirty="0" err="1">
                          <a:latin typeface="Cambria" panose="02040503050406030204" pitchFamily="18" charset="0"/>
                          <a:ea typeface="Cambria" panose="02040503050406030204" pitchFamily="18" charset="0"/>
                        </a:rPr>
                        <a:t>Sl</a:t>
                      </a:r>
                      <a:r>
                        <a:rPr lang="en-US" sz="1200" dirty="0">
                          <a:latin typeface="Cambria" panose="02040503050406030204" pitchFamily="18" charset="0"/>
                          <a:ea typeface="Cambria" panose="02040503050406030204" pitchFamily="18" charset="0"/>
                        </a:rPr>
                        <a:t> No</a:t>
                      </a:r>
                      <a:endParaRPr lang="en-IN" sz="1200" dirty="0">
                        <a:latin typeface="Cambria" panose="02040503050406030204" pitchFamily="18" charset="0"/>
                        <a:ea typeface="Cambria" panose="02040503050406030204" pitchFamily="18" charset="0"/>
                      </a:endParaRPr>
                    </a:p>
                  </a:txBody>
                  <a:tcPr anchor="ctr"/>
                </a:tc>
                <a:tc>
                  <a:txBody>
                    <a:bodyPr/>
                    <a:lstStyle/>
                    <a:p>
                      <a:pPr algn="ctr"/>
                      <a:r>
                        <a:rPr lang="en-US" sz="1200" dirty="0">
                          <a:latin typeface="Cambria" panose="02040503050406030204" pitchFamily="18" charset="0"/>
                          <a:ea typeface="Cambria" panose="02040503050406030204" pitchFamily="18" charset="0"/>
                        </a:rPr>
                        <a:t>Year</a:t>
                      </a:r>
                      <a:endParaRPr lang="en-IN" sz="1200" dirty="0">
                        <a:latin typeface="Cambria" panose="02040503050406030204" pitchFamily="18" charset="0"/>
                        <a:ea typeface="Cambria" panose="02040503050406030204" pitchFamily="18" charset="0"/>
                      </a:endParaRPr>
                    </a:p>
                  </a:txBody>
                  <a:tcPr anchor="ctr"/>
                </a:tc>
                <a:tc>
                  <a:txBody>
                    <a:bodyPr/>
                    <a:lstStyle/>
                    <a:p>
                      <a:pPr algn="ctr"/>
                      <a:r>
                        <a:rPr lang="en-US" sz="1200" dirty="0">
                          <a:latin typeface="Cambria" panose="02040503050406030204" pitchFamily="18" charset="0"/>
                          <a:ea typeface="Cambria" panose="02040503050406030204" pitchFamily="18" charset="0"/>
                        </a:rPr>
                        <a:t>Authors</a:t>
                      </a:r>
                      <a:endParaRPr lang="en-IN" sz="1200" dirty="0">
                        <a:latin typeface="Cambria" panose="02040503050406030204" pitchFamily="18" charset="0"/>
                        <a:ea typeface="Cambria" panose="02040503050406030204" pitchFamily="18" charset="0"/>
                      </a:endParaRPr>
                    </a:p>
                  </a:txBody>
                  <a:tcPr anchor="ctr"/>
                </a:tc>
                <a:tc>
                  <a:txBody>
                    <a:bodyPr/>
                    <a:lstStyle/>
                    <a:p>
                      <a:pPr algn="ctr"/>
                      <a:r>
                        <a:rPr lang="en-US" sz="1200" dirty="0">
                          <a:latin typeface="Cambria" panose="02040503050406030204" pitchFamily="18" charset="0"/>
                          <a:ea typeface="Cambria" panose="02040503050406030204" pitchFamily="18" charset="0"/>
                        </a:rPr>
                        <a:t>Title of the Paper</a:t>
                      </a:r>
                      <a:endParaRPr lang="en-IN" sz="1200" dirty="0">
                        <a:latin typeface="Cambria" panose="02040503050406030204" pitchFamily="18" charset="0"/>
                        <a:ea typeface="Cambria" panose="02040503050406030204" pitchFamily="18" charset="0"/>
                      </a:endParaRPr>
                    </a:p>
                  </a:txBody>
                  <a:tcPr anchor="ctr"/>
                </a:tc>
                <a:tc>
                  <a:txBody>
                    <a:bodyPr/>
                    <a:lstStyle/>
                    <a:p>
                      <a:pPr algn="ctr"/>
                      <a:r>
                        <a:rPr lang="en-US" sz="1200" dirty="0">
                          <a:latin typeface="Cambria" panose="02040503050406030204" pitchFamily="18" charset="0"/>
                          <a:ea typeface="Cambria" panose="02040503050406030204" pitchFamily="18" charset="0"/>
                        </a:rPr>
                        <a:t>Journal Name</a:t>
                      </a:r>
                      <a:endParaRPr lang="en-IN" sz="1200" dirty="0">
                        <a:latin typeface="Cambria" panose="02040503050406030204" pitchFamily="18" charset="0"/>
                        <a:ea typeface="Cambria" panose="02040503050406030204" pitchFamily="18" charset="0"/>
                      </a:endParaRPr>
                    </a:p>
                  </a:txBody>
                  <a:tcPr anchor="ctr"/>
                </a:tc>
                <a:tc>
                  <a:txBody>
                    <a:bodyPr/>
                    <a:lstStyle/>
                    <a:p>
                      <a:pPr algn="ctr"/>
                      <a:r>
                        <a:rPr lang="en-US" sz="1200" dirty="0">
                          <a:latin typeface="Cambria" panose="02040503050406030204" pitchFamily="18" charset="0"/>
                          <a:ea typeface="Cambria" panose="02040503050406030204" pitchFamily="18" charset="0"/>
                        </a:rPr>
                        <a:t>Algorithms</a:t>
                      </a:r>
                      <a:endParaRPr lang="en-IN" sz="1200" dirty="0">
                        <a:latin typeface="Cambria" panose="02040503050406030204" pitchFamily="18" charset="0"/>
                        <a:ea typeface="Cambria" panose="02040503050406030204" pitchFamily="18" charset="0"/>
                      </a:endParaRPr>
                    </a:p>
                  </a:txBody>
                  <a:tcPr anchor="ctr"/>
                </a:tc>
                <a:tc>
                  <a:txBody>
                    <a:bodyPr/>
                    <a:lstStyle/>
                    <a:p>
                      <a:pPr algn="ctr"/>
                      <a:r>
                        <a:rPr lang="en-US" sz="1200" dirty="0">
                          <a:latin typeface="Cambria" panose="02040503050406030204" pitchFamily="18" charset="0"/>
                          <a:ea typeface="Cambria" panose="02040503050406030204" pitchFamily="18" charset="0"/>
                        </a:rPr>
                        <a:t>Findings</a:t>
                      </a:r>
                      <a:endParaRPr lang="en-IN" sz="1200" dirty="0">
                        <a:latin typeface="Cambria" panose="02040503050406030204" pitchFamily="18" charset="0"/>
                        <a:ea typeface="Cambria" panose="02040503050406030204" pitchFamily="18" charset="0"/>
                      </a:endParaRPr>
                    </a:p>
                  </a:txBody>
                  <a:tcPr anchor="ctr"/>
                </a:tc>
                <a:tc>
                  <a:txBody>
                    <a:bodyPr/>
                    <a:lstStyle/>
                    <a:p>
                      <a:pPr algn="ctr"/>
                      <a:r>
                        <a:rPr lang="en-US" sz="1200" dirty="0">
                          <a:latin typeface="Cambria" panose="02040503050406030204" pitchFamily="18" charset="0"/>
                          <a:ea typeface="Cambria" panose="02040503050406030204" pitchFamily="18" charset="0"/>
                        </a:rPr>
                        <a:t>Drawbacks</a:t>
                      </a:r>
                      <a:endParaRPr lang="en-IN" sz="12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2889251026"/>
                  </a:ext>
                </a:extLst>
              </a:tr>
              <a:tr h="642941">
                <a:tc>
                  <a:txBody>
                    <a:bodyPr/>
                    <a:lstStyle/>
                    <a:p>
                      <a:r>
                        <a:rPr lang="en-IN" sz="1400" dirty="0">
                          <a:latin typeface="Times New Roman" pitchFamily="18" charset="0"/>
                          <a:cs typeface="Times New Roman" pitchFamily="18" charset="0"/>
                        </a:rPr>
                        <a:t>1</a:t>
                      </a:r>
                    </a:p>
                  </a:txBody>
                  <a:tcPr anchor="ctr"/>
                </a:tc>
                <a:tc>
                  <a:txBody>
                    <a:bodyPr/>
                    <a:lstStyle/>
                    <a:p>
                      <a:r>
                        <a:rPr lang="en-IN" sz="1400" dirty="0">
                          <a:latin typeface="Times New Roman" pitchFamily="18" charset="0"/>
                          <a:cs typeface="Times New Roman" pitchFamily="18" charset="0"/>
                        </a:rPr>
                        <a:t>2023</a:t>
                      </a:r>
                    </a:p>
                  </a:txBody>
                  <a:tcPr anchor="ctr"/>
                </a:tc>
                <a:tc>
                  <a:txBody>
                    <a:bodyPr/>
                    <a:lstStyle/>
                    <a:p>
                      <a:r>
                        <a:rPr lang="en-IN" sz="1400" dirty="0">
                          <a:latin typeface="Times New Roman" pitchFamily="18" charset="0"/>
                          <a:cs typeface="Times New Roman" pitchFamily="18" charset="0"/>
                        </a:rPr>
                        <a:t>R. Kumar et al.</a:t>
                      </a:r>
                    </a:p>
                  </a:txBody>
                  <a:tcPr anchor="ctr"/>
                </a:tc>
                <a:tc>
                  <a:txBody>
                    <a:bodyPr/>
                    <a:lstStyle/>
                    <a:p>
                      <a:r>
                        <a:rPr lang="en-IN" sz="1400" dirty="0">
                          <a:latin typeface="Times New Roman" pitchFamily="18" charset="0"/>
                          <a:cs typeface="Times New Roman" pitchFamily="18" charset="0"/>
                        </a:rPr>
                        <a:t>Student Skill Sharing System</a:t>
                      </a:r>
                    </a:p>
                  </a:txBody>
                  <a:tcPr anchor="ctr"/>
                </a:tc>
                <a:tc>
                  <a:txBody>
                    <a:bodyPr/>
                    <a:lstStyle/>
                    <a:p>
                      <a:r>
                        <a:rPr lang="en-IN" sz="1400">
                          <a:latin typeface="Times New Roman" pitchFamily="18" charset="0"/>
                          <a:cs typeface="Times New Roman" pitchFamily="18" charset="0"/>
                        </a:rPr>
                        <a:t>IEEE Access</a:t>
                      </a:r>
                    </a:p>
                  </a:txBody>
                  <a:tcPr anchor="ctr"/>
                </a:tc>
                <a:tc>
                  <a:txBody>
                    <a:bodyPr/>
                    <a:lstStyle/>
                    <a:p>
                      <a:r>
                        <a:rPr lang="en-IN" sz="1400">
                          <a:latin typeface="Times New Roman" pitchFamily="18" charset="0"/>
                          <a:cs typeface="Times New Roman" pitchFamily="18" charset="0"/>
                        </a:rPr>
                        <a:t>Hash Table</a:t>
                      </a:r>
                    </a:p>
                  </a:txBody>
                  <a:tcPr anchor="ctr"/>
                </a:tc>
                <a:tc>
                  <a:txBody>
                    <a:bodyPr/>
                    <a:lstStyle/>
                    <a:p>
                      <a:r>
                        <a:rPr lang="en-IN" sz="1400">
                          <a:latin typeface="Times New Roman" pitchFamily="18" charset="0"/>
                          <a:cs typeface="Times New Roman" pitchFamily="18" charset="0"/>
                        </a:rPr>
                        <a:t>Fast profile search.</a:t>
                      </a:r>
                    </a:p>
                  </a:txBody>
                  <a:tcPr anchor="ctr"/>
                </a:tc>
                <a:tc>
                  <a:txBody>
                    <a:bodyPr/>
                    <a:lstStyle/>
                    <a:p>
                      <a:r>
                        <a:rPr lang="en-IN" sz="1400">
                          <a:latin typeface="Times New Roman" pitchFamily="18" charset="0"/>
                          <a:cs typeface="Times New Roman" pitchFamily="18" charset="0"/>
                        </a:rPr>
                        <a:t>No recommendation feature.</a:t>
                      </a:r>
                    </a:p>
                  </a:txBody>
                  <a:tcPr anchor="ctr"/>
                </a:tc>
                <a:extLst>
                  <a:ext uri="{0D108BD9-81ED-4DB2-BD59-A6C34878D82A}">
                    <a16:rowId xmlns:a16="http://schemas.microsoft.com/office/drawing/2014/main" val="2557072198"/>
                  </a:ext>
                </a:extLst>
              </a:tr>
              <a:tr h="642941">
                <a:tc>
                  <a:txBody>
                    <a:bodyPr/>
                    <a:lstStyle/>
                    <a:p>
                      <a:r>
                        <a:rPr lang="en-IN" sz="1400">
                          <a:latin typeface="Times New Roman" pitchFamily="18" charset="0"/>
                          <a:cs typeface="Times New Roman" pitchFamily="18" charset="0"/>
                        </a:rPr>
                        <a:t>2</a:t>
                      </a:r>
                    </a:p>
                  </a:txBody>
                  <a:tcPr anchor="ctr"/>
                </a:tc>
                <a:tc>
                  <a:txBody>
                    <a:bodyPr/>
                    <a:lstStyle/>
                    <a:p>
                      <a:r>
                        <a:rPr lang="en-IN" sz="1400">
                          <a:latin typeface="Times New Roman" pitchFamily="18" charset="0"/>
                          <a:cs typeface="Times New Roman" pitchFamily="18" charset="0"/>
                        </a:rPr>
                        <a:t>2024</a:t>
                      </a:r>
                    </a:p>
                  </a:txBody>
                  <a:tcPr anchor="ctr"/>
                </a:tc>
                <a:tc>
                  <a:txBody>
                    <a:bodyPr/>
                    <a:lstStyle/>
                    <a:p>
                      <a:r>
                        <a:rPr lang="en-IN" sz="1400" dirty="0">
                          <a:latin typeface="Times New Roman" pitchFamily="18" charset="0"/>
                          <a:cs typeface="Times New Roman" pitchFamily="18" charset="0"/>
                        </a:rPr>
                        <a:t>S. Sharma et al.</a:t>
                      </a:r>
                    </a:p>
                  </a:txBody>
                  <a:tcPr anchor="ctr"/>
                </a:tc>
                <a:tc>
                  <a:txBody>
                    <a:bodyPr/>
                    <a:lstStyle/>
                    <a:p>
                      <a:r>
                        <a:rPr lang="en-IN" sz="1400" dirty="0">
                          <a:latin typeface="Times New Roman" pitchFamily="18" charset="0"/>
                          <a:cs typeface="Times New Roman" pitchFamily="18" charset="0"/>
                        </a:rPr>
                        <a:t>Smart Skill Exchange Platform</a:t>
                      </a:r>
                    </a:p>
                  </a:txBody>
                  <a:tcPr anchor="ctr"/>
                </a:tc>
                <a:tc>
                  <a:txBody>
                    <a:bodyPr/>
                    <a:lstStyle/>
                    <a:p>
                      <a:r>
                        <a:rPr lang="en-IN" sz="1400" dirty="0">
                          <a:latin typeface="Times New Roman" pitchFamily="18" charset="0"/>
                          <a:cs typeface="Times New Roman" pitchFamily="18" charset="0"/>
                        </a:rPr>
                        <a:t>IJERT</a:t>
                      </a:r>
                    </a:p>
                  </a:txBody>
                  <a:tcPr anchor="ctr"/>
                </a:tc>
                <a:tc>
                  <a:txBody>
                    <a:bodyPr/>
                    <a:lstStyle/>
                    <a:p>
                      <a:r>
                        <a:rPr lang="en-IN" sz="1400" dirty="0">
                          <a:latin typeface="Times New Roman" pitchFamily="18" charset="0"/>
                          <a:cs typeface="Times New Roman" pitchFamily="18" charset="0"/>
                        </a:rPr>
                        <a:t>Graph</a:t>
                      </a:r>
                    </a:p>
                  </a:txBody>
                  <a:tcPr anchor="ctr"/>
                </a:tc>
                <a:tc>
                  <a:txBody>
                    <a:bodyPr/>
                    <a:lstStyle/>
                    <a:p>
                      <a:r>
                        <a:rPr lang="en-IN" sz="1400">
                          <a:latin typeface="Times New Roman" pitchFamily="18" charset="0"/>
                          <a:cs typeface="Times New Roman" pitchFamily="18" charset="0"/>
                        </a:rPr>
                        <a:t>Better student connectivity.</a:t>
                      </a:r>
                    </a:p>
                  </a:txBody>
                  <a:tcPr anchor="ctr"/>
                </a:tc>
                <a:tc>
                  <a:txBody>
                    <a:bodyPr/>
                    <a:lstStyle/>
                    <a:p>
                      <a:r>
                        <a:rPr lang="en-IN" sz="1400">
                          <a:latin typeface="Times New Roman" pitchFamily="18" charset="0"/>
                          <a:cs typeface="Times New Roman" pitchFamily="18" charset="0"/>
                        </a:rPr>
                        <a:t>Limited scalability.</a:t>
                      </a:r>
                    </a:p>
                  </a:txBody>
                  <a:tcPr anchor="ctr"/>
                </a:tc>
                <a:extLst>
                  <a:ext uri="{0D108BD9-81ED-4DB2-BD59-A6C34878D82A}">
                    <a16:rowId xmlns:a16="http://schemas.microsoft.com/office/drawing/2014/main" val="1457139198"/>
                  </a:ext>
                </a:extLst>
              </a:tr>
              <a:tr h="642941">
                <a:tc>
                  <a:txBody>
                    <a:bodyPr/>
                    <a:lstStyle/>
                    <a:p>
                      <a:r>
                        <a:rPr lang="en-IN" sz="1400">
                          <a:latin typeface="Times New Roman" pitchFamily="18" charset="0"/>
                          <a:cs typeface="Times New Roman" pitchFamily="18" charset="0"/>
                        </a:rPr>
                        <a:t>3</a:t>
                      </a:r>
                    </a:p>
                  </a:txBody>
                  <a:tcPr anchor="ctr"/>
                </a:tc>
                <a:tc>
                  <a:txBody>
                    <a:bodyPr/>
                    <a:lstStyle/>
                    <a:p>
                      <a:r>
                        <a:rPr lang="en-IN" sz="1400">
                          <a:latin typeface="Times New Roman" pitchFamily="18" charset="0"/>
                          <a:cs typeface="Times New Roman" pitchFamily="18" charset="0"/>
                        </a:rPr>
                        <a:t>2025</a:t>
                      </a:r>
                    </a:p>
                  </a:txBody>
                  <a:tcPr anchor="ctr"/>
                </a:tc>
                <a:tc>
                  <a:txBody>
                    <a:bodyPr/>
                    <a:lstStyle/>
                    <a:p>
                      <a:r>
                        <a:rPr lang="en-IN" sz="1400">
                          <a:latin typeface="Times New Roman" pitchFamily="18" charset="0"/>
                          <a:cs typeface="Times New Roman" pitchFamily="18" charset="0"/>
                        </a:rPr>
                        <a:t>M. Patel et al.</a:t>
                      </a:r>
                    </a:p>
                  </a:txBody>
                  <a:tcPr anchor="ctr"/>
                </a:tc>
                <a:tc>
                  <a:txBody>
                    <a:bodyPr/>
                    <a:lstStyle/>
                    <a:p>
                      <a:r>
                        <a:rPr lang="en-IN" sz="1400" dirty="0">
                          <a:latin typeface="Times New Roman" pitchFamily="18" charset="0"/>
                          <a:cs typeface="Times New Roman" pitchFamily="18" charset="0"/>
                        </a:rPr>
                        <a:t>Peer Learning Recommendation System</a:t>
                      </a:r>
                    </a:p>
                  </a:txBody>
                  <a:tcPr anchor="ctr"/>
                </a:tc>
                <a:tc>
                  <a:txBody>
                    <a:bodyPr/>
                    <a:lstStyle/>
                    <a:p>
                      <a:r>
                        <a:rPr lang="en-IN" sz="1400" dirty="0">
                          <a:latin typeface="Times New Roman" pitchFamily="18" charset="0"/>
                          <a:cs typeface="Times New Roman" pitchFamily="18" charset="0"/>
                        </a:rPr>
                        <a:t>IEEE Access</a:t>
                      </a:r>
                    </a:p>
                  </a:txBody>
                  <a:tcPr anchor="ctr"/>
                </a:tc>
                <a:tc>
                  <a:txBody>
                    <a:bodyPr/>
                    <a:lstStyle/>
                    <a:p>
                      <a:r>
                        <a:rPr lang="en-IN" sz="1400" dirty="0">
                          <a:latin typeface="Times New Roman" pitchFamily="18" charset="0"/>
                          <a:cs typeface="Times New Roman" pitchFamily="18" charset="0"/>
                        </a:rPr>
                        <a:t>Graph + BFS</a:t>
                      </a:r>
                    </a:p>
                  </a:txBody>
                  <a:tcPr anchor="ctr"/>
                </a:tc>
                <a:tc>
                  <a:txBody>
                    <a:bodyPr/>
                    <a:lstStyle/>
                    <a:p>
                      <a:r>
                        <a:rPr lang="en-IN" sz="1400">
                          <a:latin typeface="Times New Roman" pitchFamily="18" charset="0"/>
                          <a:cs typeface="Times New Roman" pitchFamily="18" charset="0"/>
                        </a:rPr>
                        <a:t>Improved skill matching.</a:t>
                      </a:r>
                    </a:p>
                  </a:txBody>
                  <a:tcPr anchor="ctr"/>
                </a:tc>
                <a:tc>
                  <a:txBody>
                    <a:bodyPr/>
                    <a:lstStyle/>
                    <a:p>
                      <a:r>
                        <a:rPr lang="en-IN" sz="1400">
                          <a:latin typeface="Times New Roman" pitchFamily="18" charset="0"/>
                          <a:cs typeface="Times New Roman" pitchFamily="18" charset="0"/>
                        </a:rPr>
                        <a:t>No real-time chat.</a:t>
                      </a:r>
                    </a:p>
                  </a:txBody>
                  <a:tcPr anchor="ctr"/>
                </a:tc>
                <a:extLst>
                  <a:ext uri="{0D108BD9-81ED-4DB2-BD59-A6C34878D82A}">
                    <a16:rowId xmlns:a16="http://schemas.microsoft.com/office/drawing/2014/main" val="1499724973"/>
                  </a:ext>
                </a:extLst>
              </a:tr>
              <a:tr h="642941">
                <a:tc>
                  <a:txBody>
                    <a:bodyPr/>
                    <a:lstStyle/>
                    <a:p>
                      <a:r>
                        <a:rPr lang="en-IN" sz="1400">
                          <a:latin typeface="Times New Roman" pitchFamily="18" charset="0"/>
                          <a:cs typeface="Times New Roman" pitchFamily="18" charset="0"/>
                        </a:rPr>
                        <a:t>4</a:t>
                      </a:r>
                    </a:p>
                  </a:txBody>
                  <a:tcPr anchor="ctr"/>
                </a:tc>
                <a:tc>
                  <a:txBody>
                    <a:bodyPr/>
                    <a:lstStyle/>
                    <a:p>
                      <a:r>
                        <a:rPr lang="en-IN" sz="1400">
                          <a:latin typeface="Times New Roman" pitchFamily="18" charset="0"/>
                          <a:cs typeface="Times New Roman" pitchFamily="18" charset="0"/>
                        </a:rPr>
                        <a:t>2025</a:t>
                      </a:r>
                    </a:p>
                  </a:txBody>
                  <a:tcPr anchor="ctr"/>
                </a:tc>
                <a:tc>
                  <a:txBody>
                    <a:bodyPr/>
                    <a:lstStyle/>
                    <a:p>
                      <a:r>
                        <a:rPr lang="en-IN" sz="1400">
                          <a:latin typeface="Times New Roman" pitchFamily="18" charset="0"/>
                          <a:cs typeface="Times New Roman" pitchFamily="18" charset="0"/>
                        </a:rPr>
                        <a:t>A. Verma et al.</a:t>
                      </a:r>
                    </a:p>
                  </a:txBody>
                  <a:tcPr anchor="ctr"/>
                </a:tc>
                <a:tc>
                  <a:txBody>
                    <a:bodyPr/>
                    <a:lstStyle/>
                    <a:p>
                      <a:r>
                        <a:rPr lang="en-IN" sz="1400">
                          <a:latin typeface="Times New Roman" pitchFamily="18" charset="0"/>
                          <a:cs typeface="Times New Roman" pitchFamily="18" charset="0"/>
                        </a:rPr>
                        <a:t>Student Collaboration Platform</a:t>
                      </a:r>
                    </a:p>
                  </a:txBody>
                  <a:tcPr anchor="ctr"/>
                </a:tc>
                <a:tc>
                  <a:txBody>
                    <a:bodyPr/>
                    <a:lstStyle/>
                    <a:p>
                      <a:r>
                        <a:rPr lang="en-IN" sz="1400" dirty="0">
                          <a:latin typeface="Times New Roman" pitchFamily="18" charset="0"/>
                          <a:cs typeface="Times New Roman" pitchFamily="18" charset="0"/>
                        </a:rPr>
                        <a:t>Springer</a:t>
                      </a:r>
                    </a:p>
                  </a:txBody>
                  <a:tcPr anchor="ctr"/>
                </a:tc>
                <a:tc>
                  <a:txBody>
                    <a:bodyPr/>
                    <a:lstStyle/>
                    <a:p>
                      <a:r>
                        <a:rPr lang="en-IN" sz="1400" dirty="0">
                          <a:latin typeface="Times New Roman" pitchFamily="18" charset="0"/>
                          <a:cs typeface="Times New Roman" pitchFamily="18" charset="0"/>
                        </a:rPr>
                        <a:t>Hash Table + Graph</a:t>
                      </a:r>
                    </a:p>
                  </a:txBody>
                  <a:tcPr anchor="ctr"/>
                </a:tc>
                <a:tc>
                  <a:txBody>
                    <a:bodyPr/>
                    <a:lstStyle/>
                    <a:p>
                      <a:r>
                        <a:rPr lang="en-IN" sz="1400" dirty="0">
                          <a:latin typeface="Times New Roman" pitchFamily="18" charset="0"/>
                          <a:cs typeface="Times New Roman" pitchFamily="18" charset="0"/>
                        </a:rPr>
                        <a:t>Quick data retrieval.</a:t>
                      </a:r>
                    </a:p>
                  </a:txBody>
                  <a:tcPr anchor="ctr"/>
                </a:tc>
                <a:tc>
                  <a:txBody>
                    <a:bodyPr/>
                    <a:lstStyle/>
                    <a:p>
                      <a:r>
                        <a:rPr lang="en-IN" sz="1400" dirty="0">
                          <a:latin typeface="Times New Roman" pitchFamily="18" charset="0"/>
                          <a:cs typeface="Times New Roman" pitchFamily="18" charset="0"/>
                        </a:rPr>
                        <a:t>Basic user interface.</a:t>
                      </a:r>
                    </a:p>
                  </a:txBody>
                  <a:tcPr anchor="ctr"/>
                </a:tc>
                <a:extLst>
                  <a:ext uri="{0D108BD9-81ED-4DB2-BD59-A6C34878D82A}">
                    <a16:rowId xmlns:a16="http://schemas.microsoft.com/office/drawing/2014/main" val="1446082766"/>
                  </a:ext>
                </a:extLst>
              </a:tr>
              <a:tr h="642941">
                <a:tc>
                  <a:txBody>
                    <a:bodyPr/>
                    <a:lstStyle/>
                    <a:p>
                      <a:r>
                        <a:rPr lang="en-IN" sz="1400">
                          <a:latin typeface="Times New Roman" pitchFamily="18" charset="0"/>
                          <a:cs typeface="Times New Roman" pitchFamily="18" charset="0"/>
                        </a:rPr>
                        <a:t>5</a:t>
                      </a:r>
                    </a:p>
                  </a:txBody>
                  <a:tcPr anchor="ctr"/>
                </a:tc>
                <a:tc>
                  <a:txBody>
                    <a:bodyPr/>
                    <a:lstStyle/>
                    <a:p>
                      <a:r>
                        <a:rPr lang="en-IN" sz="1400">
                          <a:latin typeface="Times New Roman" pitchFamily="18" charset="0"/>
                          <a:cs typeface="Times New Roman" pitchFamily="18" charset="0"/>
                        </a:rPr>
                        <a:t>2026</a:t>
                      </a:r>
                    </a:p>
                  </a:txBody>
                  <a:tcPr anchor="ctr"/>
                </a:tc>
                <a:tc>
                  <a:txBody>
                    <a:bodyPr/>
                    <a:lstStyle/>
                    <a:p>
                      <a:r>
                        <a:rPr lang="en-IN" sz="1400">
                          <a:latin typeface="Times New Roman" pitchFamily="18" charset="0"/>
                          <a:cs typeface="Times New Roman" pitchFamily="18" charset="0"/>
                        </a:rPr>
                        <a:t>D. James et al.</a:t>
                      </a:r>
                    </a:p>
                  </a:txBody>
                  <a:tcPr anchor="ctr"/>
                </a:tc>
                <a:tc>
                  <a:txBody>
                    <a:bodyPr/>
                    <a:lstStyle/>
                    <a:p>
                      <a:r>
                        <a:rPr lang="en-IN" sz="1400">
                          <a:latin typeface="Times New Roman" pitchFamily="18" charset="0"/>
                          <a:cs typeface="Times New Roman" pitchFamily="18" charset="0"/>
                        </a:rPr>
                        <a:t>Mobile-Based SkillSwap Platform</a:t>
                      </a:r>
                    </a:p>
                  </a:txBody>
                  <a:tcPr anchor="ctr"/>
                </a:tc>
                <a:tc>
                  <a:txBody>
                    <a:bodyPr/>
                    <a:lstStyle/>
                    <a:p>
                      <a:r>
                        <a:rPr lang="en-IN" sz="1400">
                          <a:latin typeface="Times New Roman" pitchFamily="18" charset="0"/>
                          <a:cs typeface="Times New Roman" pitchFamily="18" charset="0"/>
                        </a:rPr>
                        <a:t>IJISRT</a:t>
                      </a:r>
                    </a:p>
                  </a:txBody>
                  <a:tcPr anchor="ctr"/>
                </a:tc>
                <a:tc>
                  <a:txBody>
                    <a:bodyPr/>
                    <a:lstStyle/>
                    <a:p>
                      <a:r>
                        <a:rPr lang="en-IN" sz="1400" dirty="0">
                          <a:latin typeface="Times New Roman" pitchFamily="18" charset="0"/>
                          <a:cs typeface="Times New Roman" pitchFamily="18" charset="0"/>
                        </a:rPr>
                        <a:t>Graph + Matching</a:t>
                      </a:r>
                    </a:p>
                  </a:txBody>
                  <a:tcPr anchor="ctr"/>
                </a:tc>
                <a:tc>
                  <a:txBody>
                    <a:bodyPr/>
                    <a:lstStyle/>
                    <a:p>
                      <a:r>
                        <a:rPr lang="en-IN" sz="1400" dirty="0">
                          <a:latin typeface="Times New Roman" pitchFamily="18" charset="0"/>
                          <a:cs typeface="Times New Roman" pitchFamily="18" charset="0"/>
                        </a:rPr>
                        <a:t>Enhances peer learning.</a:t>
                      </a:r>
                    </a:p>
                  </a:txBody>
                  <a:tcPr anchor="ctr"/>
                </a:tc>
                <a:tc>
                  <a:txBody>
                    <a:bodyPr/>
                    <a:lstStyle/>
                    <a:p>
                      <a:r>
                        <a:rPr lang="en-IN" sz="1400" dirty="0">
                          <a:latin typeface="Times New Roman" pitchFamily="18" charset="0"/>
                          <a:cs typeface="Times New Roman" pitchFamily="18" charset="0"/>
                        </a:rPr>
                        <a:t>Limited user testing.</a:t>
                      </a:r>
                    </a:p>
                  </a:txBody>
                  <a:tcPr anchor="ctr"/>
                </a:tc>
                <a:extLst>
                  <a:ext uri="{0D108BD9-81ED-4DB2-BD59-A6C34878D82A}">
                    <a16:rowId xmlns:a16="http://schemas.microsoft.com/office/drawing/2014/main" val="871266150"/>
                  </a:ext>
                </a:extLst>
              </a:tr>
            </a:tbl>
          </a:graphicData>
        </a:graphic>
      </p:graphicFrame>
      <p:sp>
        <p:nvSpPr>
          <p:cNvPr id="5" name="Rectangle 4"/>
          <p:cNvSpPr/>
          <p:nvPr/>
        </p:nvSpPr>
        <p:spPr>
          <a:xfrm>
            <a:off x="4169004" y="887141"/>
            <a:ext cx="4115807" cy="523220"/>
          </a:xfrm>
          <a:prstGeom prst="rect">
            <a:avLst/>
          </a:prstGeom>
        </p:spPr>
        <p:txBody>
          <a:bodyPr wrap="none">
            <a:spAutoFit/>
          </a:bodyPr>
          <a:lstStyle/>
          <a:p>
            <a:r>
              <a:rPr lang="en-IN" sz="2800" b="1" dirty="0">
                <a:latin typeface="Times New Roman" panose="02020603050405020304" pitchFamily="18" charset="0"/>
                <a:cs typeface="Times New Roman" panose="02020603050405020304" pitchFamily="18" charset="0"/>
              </a:rPr>
              <a:t>LITERATURE REVIEW</a:t>
            </a:r>
            <a:endParaRPr lang="en-IN" sz="2800" b="1" dirty="0"/>
          </a:p>
        </p:txBody>
      </p:sp>
      <p:pic>
        <p:nvPicPr>
          <p:cNvPr id="6" name="object 3">
            <a:extLst>
              <a:ext uri="{FF2B5EF4-FFF2-40B4-BE49-F238E27FC236}">
                <a16:creationId xmlns:a16="http://schemas.microsoft.com/office/drawing/2014/main" id="{9C240479-F757-E5C0-5664-790CE6214E86}"/>
              </a:ext>
            </a:extLst>
          </p:cNvPr>
          <p:cNvPicPr/>
          <p:nvPr/>
        </p:nvPicPr>
        <p:blipFill>
          <a:blip r:embed="rId2" cstate="print"/>
          <a:stretch>
            <a:fillRect/>
          </a:stretch>
        </p:blipFill>
        <p:spPr>
          <a:xfrm>
            <a:off x="344593" y="228176"/>
            <a:ext cx="987213" cy="1133475"/>
          </a:xfrm>
          <a:prstGeom prst="rect">
            <a:avLst/>
          </a:prstGeom>
        </p:spPr>
      </p:pic>
      <p:pic>
        <p:nvPicPr>
          <p:cNvPr id="7" name="object 4">
            <a:extLst>
              <a:ext uri="{FF2B5EF4-FFF2-40B4-BE49-F238E27FC236}">
                <a16:creationId xmlns:a16="http://schemas.microsoft.com/office/drawing/2014/main" id="{40DA8358-CABE-4480-48E4-FFB95D587150}"/>
              </a:ext>
            </a:extLst>
          </p:cNvPr>
          <p:cNvPicPr/>
          <p:nvPr/>
        </p:nvPicPr>
        <p:blipFill>
          <a:blip r:embed="rId3" cstate="print"/>
          <a:stretch>
            <a:fillRect/>
          </a:stretch>
        </p:blipFill>
        <p:spPr>
          <a:xfrm>
            <a:off x="10368979" y="294851"/>
            <a:ext cx="1419225" cy="1066800"/>
          </a:xfrm>
          <a:prstGeom prst="rect">
            <a:avLst/>
          </a:prstGeom>
        </p:spPr>
      </p:pic>
    </p:spTree>
    <p:extLst>
      <p:ext uri="{BB962C8B-B14F-4D97-AF65-F5344CB8AC3E}">
        <p14:creationId xmlns:p14="http://schemas.microsoft.com/office/powerpoint/2010/main" val="3761060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90E9486-50A0-3B05-0346-A5A01F0AABE9}"/>
              </a:ext>
            </a:extLst>
          </p:cNvPr>
          <p:cNvSpPr txBox="1"/>
          <p:nvPr/>
        </p:nvSpPr>
        <p:spPr>
          <a:xfrm>
            <a:off x="1914257" y="1275491"/>
            <a:ext cx="8160295"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PROBLEM IDENTIFICATION AND ANALYSIS</a:t>
            </a:r>
          </a:p>
        </p:txBody>
      </p:sp>
      <p:sp>
        <p:nvSpPr>
          <p:cNvPr id="6" name="TextBox 5">
            <a:extLst>
              <a:ext uri="{FF2B5EF4-FFF2-40B4-BE49-F238E27FC236}">
                <a16:creationId xmlns:a16="http://schemas.microsoft.com/office/drawing/2014/main" id="{A590E415-9AE9-F1D0-2005-783743251392}"/>
              </a:ext>
            </a:extLst>
          </p:cNvPr>
          <p:cNvSpPr txBox="1"/>
          <p:nvPr/>
        </p:nvSpPr>
        <p:spPr>
          <a:xfrm>
            <a:off x="717848" y="2580830"/>
            <a:ext cx="10967490" cy="3323987"/>
          </a:xfrm>
          <a:prstGeom prst="rect">
            <a:avLst/>
          </a:prstGeom>
          <a:noFill/>
        </p:spPr>
        <p:txBody>
          <a:bodyPr wrap="square" rtlCol="0">
            <a:spAutoFit/>
          </a:bodyPr>
          <a:lstStyle/>
          <a:p>
            <a:pPr marL="342900" indent="-342900">
              <a:lnSpc>
                <a:spcPct val="150000"/>
              </a:lnSpc>
              <a:buFont typeface="Wingdings" pitchFamily="2" charset="2"/>
              <a:buChar char="Ø"/>
            </a:pPr>
            <a:r>
              <a:rPr lang="en-US" sz="2000" dirty="0">
                <a:latin typeface="Times New Roman" panose="02020603050405020304" pitchFamily="18" charset="0"/>
                <a:cs typeface="Times New Roman" panose="02020603050405020304" pitchFamily="18" charset="0"/>
              </a:rPr>
              <a:t>Students often struggle to find classmates who have the skills they want to learn.</a:t>
            </a:r>
          </a:p>
          <a:p>
            <a:pPr marL="342900" indent="-342900">
              <a:lnSpc>
                <a:spcPct val="150000"/>
              </a:lnSpc>
              <a:buFont typeface="Wingdings" pitchFamily="2" charset="2"/>
              <a:buChar char="Ø"/>
            </a:pPr>
            <a:r>
              <a:rPr lang="en-US" sz="2000" dirty="0">
                <a:latin typeface="Times New Roman" panose="02020603050405020304" pitchFamily="18" charset="0"/>
                <a:cs typeface="Times New Roman" panose="02020603050405020304" pitchFamily="18" charset="0"/>
              </a:rPr>
              <a:t>There is no centralized platform to share skills and connect students with similar learning interests.</a:t>
            </a:r>
          </a:p>
          <a:p>
            <a:pPr marL="342900" indent="-342900">
              <a:lnSpc>
                <a:spcPct val="150000"/>
              </a:lnSpc>
              <a:buFont typeface="Wingdings" pitchFamily="2" charset="2"/>
              <a:buChar char="Ø"/>
            </a:pPr>
            <a:r>
              <a:rPr lang="en-US" sz="2000" dirty="0">
                <a:latin typeface="Times New Roman" panose="02020603050405020304" pitchFamily="18" charset="0"/>
                <a:cs typeface="Times New Roman" panose="02020603050405020304" pitchFamily="18" charset="0"/>
              </a:rPr>
              <a:t>Manual searching for suitable learning partners is time-consuming and inefficient.</a:t>
            </a:r>
          </a:p>
          <a:p>
            <a:pPr marL="342900" indent="-342900">
              <a:lnSpc>
                <a:spcPct val="150000"/>
              </a:lnSpc>
              <a:buFont typeface="Wingdings" pitchFamily="2" charset="2"/>
              <a:buChar char="Ø"/>
            </a:pPr>
            <a:r>
              <a:rPr lang="en-US" sz="2000" dirty="0">
                <a:latin typeface="Times New Roman" panose="02020603050405020304" pitchFamily="18" charset="0"/>
                <a:cs typeface="Times New Roman" panose="02020603050405020304" pitchFamily="18" charset="0"/>
              </a:rPr>
              <a:t>Without a proper matching system, many students miss opportunities for collaboration and knowledge sharing.</a:t>
            </a:r>
          </a:p>
          <a:p>
            <a:pPr marL="342900" indent="-342900">
              <a:lnSpc>
                <a:spcPct val="150000"/>
              </a:lnSpc>
              <a:buFont typeface="Wingdings" pitchFamily="2" charset="2"/>
              <a:buChar char="Ø"/>
            </a:pPr>
            <a:r>
              <a:rPr lang="en-US" sz="2000" dirty="0">
                <a:latin typeface="Times New Roman" panose="02020603050405020304" pitchFamily="18" charset="0"/>
                <a:cs typeface="Times New Roman" panose="02020603050405020304" pitchFamily="18" charset="0"/>
              </a:rPr>
              <a:t>The proposed system uses Hash Tables for fast student data retrieval and Graphs for intelligent skill-based connections, making the skill exchange process simple and effective.</a:t>
            </a:r>
            <a:endParaRPr lang="en-IN" sz="2000" dirty="0">
              <a:latin typeface="Times New Roman" panose="02020603050405020304" pitchFamily="18" charset="0"/>
              <a:cs typeface="Times New Roman" panose="02020603050405020304" pitchFamily="18" charset="0"/>
            </a:endParaRPr>
          </a:p>
        </p:txBody>
      </p:sp>
      <p:pic>
        <p:nvPicPr>
          <p:cNvPr id="7" name="object 3">
            <a:extLst>
              <a:ext uri="{FF2B5EF4-FFF2-40B4-BE49-F238E27FC236}">
                <a16:creationId xmlns:a16="http://schemas.microsoft.com/office/drawing/2014/main" id="{9C240479-F757-E5C0-5664-790CE6214E86}"/>
              </a:ext>
            </a:extLst>
          </p:cNvPr>
          <p:cNvPicPr/>
          <p:nvPr/>
        </p:nvPicPr>
        <p:blipFill>
          <a:blip r:embed="rId2" cstate="print"/>
          <a:stretch>
            <a:fillRect/>
          </a:stretch>
        </p:blipFill>
        <p:spPr>
          <a:xfrm>
            <a:off x="344593" y="228176"/>
            <a:ext cx="987213" cy="1133475"/>
          </a:xfrm>
          <a:prstGeom prst="rect">
            <a:avLst/>
          </a:prstGeom>
        </p:spPr>
      </p:pic>
      <p:pic>
        <p:nvPicPr>
          <p:cNvPr id="8" name="object 4">
            <a:extLst>
              <a:ext uri="{FF2B5EF4-FFF2-40B4-BE49-F238E27FC236}">
                <a16:creationId xmlns:a16="http://schemas.microsoft.com/office/drawing/2014/main" id="{40DA8358-CABE-4480-48E4-FFB95D587150}"/>
              </a:ext>
            </a:extLst>
          </p:cNvPr>
          <p:cNvPicPr/>
          <p:nvPr/>
        </p:nvPicPr>
        <p:blipFill>
          <a:blip r:embed="rId3" cstate="print"/>
          <a:stretch>
            <a:fillRect/>
          </a:stretch>
        </p:blipFill>
        <p:spPr>
          <a:xfrm>
            <a:off x="10368979" y="294851"/>
            <a:ext cx="1419225" cy="1066800"/>
          </a:xfrm>
          <a:prstGeom prst="rect">
            <a:avLst/>
          </a:prstGeom>
        </p:spPr>
      </p:pic>
    </p:spTree>
    <p:extLst>
      <p:ext uri="{BB962C8B-B14F-4D97-AF65-F5344CB8AC3E}">
        <p14:creationId xmlns:p14="http://schemas.microsoft.com/office/powerpoint/2010/main" val="2102821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9BF9CFD-7A17-6379-56D6-79B1D5B99FEC}"/>
              </a:ext>
            </a:extLst>
          </p:cNvPr>
          <p:cNvSpPr txBox="1"/>
          <p:nvPr/>
        </p:nvSpPr>
        <p:spPr>
          <a:xfrm>
            <a:off x="4370939" y="1038455"/>
            <a:ext cx="2869183" cy="523220"/>
          </a:xfrm>
          <a:prstGeom prst="rect">
            <a:avLst/>
          </a:prstGeom>
          <a:noFill/>
        </p:spPr>
        <p:txBody>
          <a:bodyPr wrap="none" rtlCol="0">
            <a:spAutoFit/>
          </a:bodyPr>
          <a:lstStyle/>
          <a:p>
            <a:r>
              <a:rPr lang="en-IN" sz="2800" b="1" dirty="0">
                <a:latin typeface="Times New Roman" panose="02020603050405020304" pitchFamily="18" charset="0"/>
                <a:cs typeface="Times New Roman" panose="02020603050405020304" pitchFamily="18" charset="0"/>
              </a:rPr>
              <a:t>DATASET USED</a:t>
            </a:r>
          </a:p>
        </p:txBody>
      </p:sp>
      <p:sp>
        <p:nvSpPr>
          <p:cNvPr id="6" name="TextBox 5">
            <a:extLst>
              <a:ext uri="{FF2B5EF4-FFF2-40B4-BE49-F238E27FC236}">
                <a16:creationId xmlns:a16="http://schemas.microsoft.com/office/drawing/2014/main" id="{83DBDAD8-289B-8340-4C71-83BC9C6E33AE}"/>
              </a:ext>
            </a:extLst>
          </p:cNvPr>
          <p:cNvSpPr txBox="1"/>
          <p:nvPr/>
        </p:nvSpPr>
        <p:spPr>
          <a:xfrm>
            <a:off x="1668027" y="2297318"/>
            <a:ext cx="9013371" cy="2954655"/>
          </a:xfrm>
          <a:prstGeom prst="rect">
            <a:avLst/>
          </a:prstGeom>
          <a:noFill/>
        </p:spPr>
        <p:txBody>
          <a:bodyPr wrap="square">
            <a:spAutoFit/>
          </a:bodyPr>
          <a:lstStyle/>
          <a:p>
            <a:pPr marL="342900" indent="-342900">
              <a:lnSpc>
                <a:spcPct val="150000"/>
              </a:lnSpc>
              <a:buFont typeface="Arial" pitchFamily="34" charset="0"/>
              <a:buChar char="•"/>
            </a:pPr>
            <a:r>
              <a:rPr lang="en-IN" sz="24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Student ID – Unique identification number for each student.</a:t>
            </a:r>
          </a:p>
          <a:p>
            <a:pPr marL="342900" indent="-342900">
              <a:lnSpc>
                <a:spcPct val="150000"/>
              </a:lnSpc>
              <a:buFont typeface="Arial" pitchFamily="34" charset="0"/>
              <a:buChar char="•"/>
            </a:pPr>
            <a:r>
              <a:rPr lang="en-IN" sz="2000" dirty="0">
                <a:latin typeface="Times New Roman" panose="02020603050405020304" pitchFamily="18" charset="0"/>
                <a:cs typeface="Times New Roman" panose="02020603050405020304" pitchFamily="18" charset="0"/>
              </a:rPr>
              <a:t> Student Name – Name of the student.</a:t>
            </a:r>
          </a:p>
          <a:p>
            <a:pPr marL="342900" indent="-342900">
              <a:lnSpc>
                <a:spcPct val="150000"/>
              </a:lnSpc>
              <a:buFont typeface="Arial" pitchFamily="34" charset="0"/>
              <a:buChar char="•"/>
            </a:pPr>
            <a:r>
              <a:rPr lang="en-IN" sz="2000" dirty="0">
                <a:latin typeface="Times New Roman" panose="02020603050405020304" pitchFamily="18" charset="0"/>
                <a:cs typeface="Times New Roman" panose="02020603050405020304" pitchFamily="18" charset="0"/>
              </a:rPr>
              <a:t> Skills – Skills the student can teach (e.g., Python, Java, C++, UI/UX).</a:t>
            </a:r>
          </a:p>
          <a:p>
            <a:pPr marL="342900" indent="-342900">
              <a:lnSpc>
                <a:spcPct val="150000"/>
              </a:lnSpc>
              <a:buFont typeface="Arial" pitchFamily="34" charset="0"/>
              <a:buChar char="•"/>
            </a:pPr>
            <a:r>
              <a:rPr lang="en-IN" sz="2000" dirty="0">
                <a:latin typeface="Times New Roman" panose="02020603050405020304" pitchFamily="18" charset="0"/>
                <a:cs typeface="Times New Roman" panose="02020603050405020304" pitchFamily="18" charset="0"/>
              </a:rPr>
              <a:t>Interested Skills – Skills the student wants to learn.</a:t>
            </a:r>
          </a:p>
          <a:p>
            <a:pPr marL="342900" indent="-342900">
              <a:lnSpc>
                <a:spcPct val="150000"/>
              </a:lnSpc>
              <a:buFont typeface="Arial" pitchFamily="34" charset="0"/>
              <a:buChar char="•"/>
            </a:pPr>
            <a:r>
              <a:rPr lang="en-IN" sz="2000" dirty="0">
                <a:latin typeface="Times New Roman" panose="02020603050405020304" pitchFamily="18" charset="0"/>
                <a:cs typeface="Times New Roman" panose="02020603050405020304" pitchFamily="18" charset="0"/>
              </a:rPr>
              <a:t> Department &amp; Year – Academic department and year of study used for better matching.</a:t>
            </a:r>
          </a:p>
        </p:txBody>
      </p:sp>
      <p:pic>
        <p:nvPicPr>
          <p:cNvPr id="5" name="object 3">
            <a:extLst>
              <a:ext uri="{FF2B5EF4-FFF2-40B4-BE49-F238E27FC236}">
                <a16:creationId xmlns:a16="http://schemas.microsoft.com/office/drawing/2014/main" id="{9C240479-F757-E5C0-5664-790CE6214E86}"/>
              </a:ext>
            </a:extLst>
          </p:cNvPr>
          <p:cNvPicPr/>
          <p:nvPr/>
        </p:nvPicPr>
        <p:blipFill>
          <a:blip r:embed="rId2" cstate="print"/>
          <a:stretch>
            <a:fillRect/>
          </a:stretch>
        </p:blipFill>
        <p:spPr>
          <a:xfrm>
            <a:off x="344593" y="228176"/>
            <a:ext cx="987213" cy="1133475"/>
          </a:xfrm>
          <a:prstGeom prst="rect">
            <a:avLst/>
          </a:prstGeom>
        </p:spPr>
      </p:pic>
      <p:pic>
        <p:nvPicPr>
          <p:cNvPr id="7" name="object 4">
            <a:extLst>
              <a:ext uri="{FF2B5EF4-FFF2-40B4-BE49-F238E27FC236}">
                <a16:creationId xmlns:a16="http://schemas.microsoft.com/office/drawing/2014/main" id="{40DA8358-CABE-4480-48E4-FFB95D587150}"/>
              </a:ext>
            </a:extLst>
          </p:cNvPr>
          <p:cNvPicPr/>
          <p:nvPr/>
        </p:nvPicPr>
        <p:blipFill>
          <a:blip r:embed="rId3" cstate="print"/>
          <a:stretch>
            <a:fillRect/>
          </a:stretch>
        </p:blipFill>
        <p:spPr>
          <a:xfrm>
            <a:off x="10368979" y="294851"/>
            <a:ext cx="1419225" cy="1066800"/>
          </a:xfrm>
          <a:prstGeom prst="rect">
            <a:avLst/>
          </a:prstGeom>
        </p:spPr>
      </p:pic>
    </p:spTree>
    <p:extLst>
      <p:ext uri="{BB962C8B-B14F-4D97-AF65-F5344CB8AC3E}">
        <p14:creationId xmlns:p14="http://schemas.microsoft.com/office/powerpoint/2010/main" val="1709085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BE4F2AC-22B3-B659-5BC2-F1F8F8BB236D}"/>
              </a:ext>
            </a:extLst>
          </p:cNvPr>
          <p:cNvSpPr txBox="1"/>
          <p:nvPr/>
        </p:nvSpPr>
        <p:spPr>
          <a:xfrm>
            <a:off x="2199497" y="1198110"/>
            <a:ext cx="781980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SOLUTION DESIGN AND IMPLEMENTATION</a:t>
            </a:r>
          </a:p>
        </p:txBody>
      </p:sp>
      <p:sp>
        <p:nvSpPr>
          <p:cNvPr id="7" name="TextBox 6">
            <a:extLst>
              <a:ext uri="{FF2B5EF4-FFF2-40B4-BE49-F238E27FC236}">
                <a16:creationId xmlns:a16="http://schemas.microsoft.com/office/drawing/2014/main" id="{5AA0C9B5-E79F-2610-7EC7-8E5591044444}"/>
              </a:ext>
            </a:extLst>
          </p:cNvPr>
          <p:cNvSpPr txBox="1"/>
          <p:nvPr/>
        </p:nvSpPr>
        <p:spPr>
          <a:xfrm>
            <a:off x="1150489" y="2186745"/>
            <a:ext cx="9746901" cy="3730317"/>
          </a:xfrm>
          <a:prstGeom prst="rect">
            <a:avLst/>
          </a:prstGeom>
          <a:noFill/>
        </p:spPr>
        <p:txBody>
          <a:bodyPr wrap="square">
            <a:spAutoFit/>
          </a:bodyPr>
          <a:lstStyle/>
          <a:p>
            <a:pPr marL="342900" indent="-342900">
              <a:lnSpc>
                <a:spcPct val="150000"/>
              </a:lnSpc>
              <a:buFont typeface="Arial" pitchFamily="34" charset="0"/>
              <a:buChar char="•"/>
            </a:pPr>
            <a:r>
              <a:rPr lang="en-IN" sz="2000" dirty="0">
                <a:latin typeface="Times New Roman" panose="02020603050405020304" pitchFamily="18" charset="0"/>
                <a:cs typeface="Times New Roman" panose="02020603050405020304" pitchFamily="18" charset="0"/>
              </a:rPr>
              <a:t>Hash Table – Stores student profiles, skills, and interests for fast data retrieval.</a:t>
            </a:r>
          </a:p>
          <a:p>
            <a:pPr marL="342900" indent="-342900">
              <a:lnSpc>
                <a:spcPct val="150000"/>
              </a:lnSpc>
              <a:buFont typeface="Arial" pitchFamily="34" charset="0"/>
              <a:buChar char="•"/>
            </a:pPr>
            <a:r>
              <a:rPr lang="en-IN" sz="2000" dirty="0">
                <a:latin typeface="Times New Roman" panose="02020603050405020304" pitchFamily="18" charset="0"/>
                <a:cs typeface="Times New Roman" panose="02020603050405020304" pitchFamily="18" charset="0"/>
              </a:rPr>
              <a:t> Graph – Represents students as nodes and skill-based connections as edges.</a:t>
            </a:r>
          </a:p>
          <a:p>
            <a:pPr marL="342900" indent="-342900">
              <a:lnSpc>
                <a:spcPct val="150000"/>
              </a:lnSpc>
              <a:buFont typeface="Arial" pitchFamily="34" charset="0"/>
              <a:buChar char="•"/>
            </a:pPr>
            <a:r>
              <a:rPr lang="en-IN" sz="2000" dirty="0">
                <a:latin typeface="Times New Roman" panose="02020603050405020304" pitchFamily="18" charset="0"/>
                <a:cs typeface="Times New Roman" panose="02020603050405020304" pitchFamily="18" charset="0"/>
              </a:rPr>
              <a:t> Skill Matching – Compares available skills with learning interests to find suitable partners.</a:t>
            </a:r>
          </a:p>
          <a:p>
            <a:pPr marL="342900" indent="-342900">
              <a:lnSpc>
                <a:spcPct val="150000"/>
              </a:lnSpc>
              <a:buFont typeface="Arial" pitchFamily="34" charset="0"/>
              <a:buChar char="•"/>
            </a:pPr>
            <a:r>
              <a:rPr lang="en-IN" sz="2000" dirty="0">
                <a:latin typeface="Times New Roman" panose="02020603050405020304" pitchFamily="18" charset="0"/>
                <a:cs typeface="Times New Roman" panose="02020603050405020304" pitchFamily="18" charset="0"/>
              </a:rPr>
              <a:t> Recommendation System – Suggests the best students for skill exchange based on graph connections.</a:t>
            </a:r>
          </a:p>
          <a:p>
            <a:pPr marL="342900" indent="-342900">
              <a:lnSpc>
                <a:spcPct val="150000"/>
              </a:lnSpc>
              <a:buFont typeface="Arial" pitchFamily="34" charset="0"/>
              <a:buChar char="•"/>
            </a:pPr>
            <a:r>
              <a:rPr lang="en-IN" sz="2000" dirty="0">
                <a:latin typeface="Times New Roman" panose="02020603050405020304" pitchFamily="18" charset="0"/>
                <a:cs typeface="Times New Roman" panose="02020603050405020304" pitchFamily="18" charset="0"/>
              </a:rPr>
              <a:t> Benefits – Provides quick searching, efficient matching, and encourages collaborative learning among students.</a:t>
            </a:r>
          </a:p>
        </p:txBody>
      </p:sp>
      <p:pic>
        <p:nvPicPr>
          <p:cNvPr id="6" name="object 3">
            <a:extLst>
              <a:ext uri="{FF2B5EF4-FFF2-40B4-BE49-F238E27FC236}">
                <a16:creationId xmlns:a16="http://schemas.microsoft.com/office/drawing/2014/main" id="{9C240479-F757-E5C0-5664-790CE6214E86}"/>
              </a:ext>
            </a:extLst>
          </p:cNvPr>
          <p:cNvPicPr/>
          <p:nvPr/>
        </p:nvPicPr>
        <p:blipFill>
          <a:blip r:embed="rId2" cstate="print"/>
          <a:stretch>
            <a:fillRect/>
          </a:stretch>
        </p:blipFill>
        <p:spPr>
          <a:xfrm>
            <a:off x="344593" y="228176"/>
            <a:ext cx="987213" cy="1133475"/>
          </a:xfrm>
          <a:prstGeom prst="rect">
            <a:avLst/>
          </a:prstGeom>
        </p:spPr>
      </p:pic>
      <p:pic>
        <p:nvPicPr>
          <p:cNvPr id="8" name="object 4">
            <a:extLst>
              <a:ext uri="{FF2B5EF4-FFF2-40B4-BE49-F238E27FC236}">
                <a16:creationId xmlns:a16="http://schemas.microsoft.com/office/drawing/2014/main" id="{40DA8358-CABE-4480-48E4-FFB95D587150}"/>
              </a:ext>
            </a:extLst>
          </p:cNvPr>
          <p:cNvPicPr/>
          <p:nvPr/>
        </p:nvPicPr>
        <p:blipFill>
          <a:blip r:embed="rId3" cstate="print"/>
          <a:stretch>
            <a:fillRect/>
          </a:stretch>
        </p:blipFill>
        <p:spPr>
          <a:xfrm>
            <a:off x="10368979" y="294851"/>
            <a:ext cx="1419225" cy="1066800"/>
          </a:xfrm>
          <a:prstGeom prst="rect">
            <a:avLst/>
          </a:prstGeom>
        </p:spPr>
      </p:pic>
    </p:spTree>
    <p:extLst>
      <p:ext uri="{BB962C8B-B14F-4D97-AF65-F5344CB8AC3E}">
        <p14:creationId xmlns:p14="http://schemas.microsoft.com/office/powerpoint/2010/main" val="820289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DD2894A-F072-72B5-2868-3A75586AE30D}"/>
              </a:ext>
            </a:extLst>
          </p:cNvPr>
          <p:cNvSpPr txBox="1"/>
          <p:nvPr/>
        </p:nvSpPr>
        <p:spPr>
          <a:xfrm>
            <a:off x="1426912" y="899423"/>
            <a:ext cx="9241572" cy="830997"/>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MODULE 1 – STUDENT PROFILE MANAGEMENT USING HASH TABLES</a:t>
            </a:r>
          </a:p>
        </p:txBody>
      </p:sp>
      <p:sp>
        <p:nvSpPr>
          <p:cNvPr id="7" name="TextBox 6">
            <a:extLst>
              <a:ext uri="{FF2B5EF4-FFF2-40B4-BE49-F238E27FC236}">
                <a16:creationId xmlns:a16="http://schemas.microsoft.com/office/drawing/2014/main" id="{AD19CD29-2093-299B-36BF-4CB8DD4A3E62}"/>
              </a:ext>
            </a:extLst>
          </p:cNvPr>
          <p:cNvSpPr txBox="1"/>
          <p:nvPr/>
        </p:nvSpPr>
        <p:spPr>
          <a:xfrm>
            <a:off x="609850" y="1730420"/>
            <a:ext cx="10875697" cy="4708981"/>
          </a:xfrm>
          <a:prstGeom prst="rect">
            <a:avLst/>
          </a:prstGeom>
          <a:noFill/>
        </p:spPr>
        <p:txBody>
          <a:bodyPr wrap="square">
            <a:spAutoFit/>
          </a:bodyPr>
          <a:lstStyle/>
          <a:p>
            <a:pPr>
              <a:lnSpc>
                <a:spcPct val="150000"/>
              </a:lnSpc>
            </a:pPr>
            <a:r>
              <a:rPr lang="en-IN" sz="2000" b="1" dirty="0">
                <a:latin typeface="Times New Roman" panose="02020603050405020304" pitchFamily="18" charset="0"/>
                <a:cs typeface="Times New Roman" panose="02020603050405020304" pitchFamily="18" charset="0"/>
              </a:rPr>
              <a:t>Function:</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Registers new student profiles.</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Stores student details such as Name, ID, Skills, and Interests.</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Retrieves and updates student information quickly using a Hash Table.</a:t>
            </a:r>
          </a:p>
          <a:p>
            <a:pPr>
              <a:lnSpc>
                <a:spcPct val="150000"/>
              </a:lnSpc>
            </a:pPr>
            <a:r>
              <a:rPr lang="en-IN" sz="2000" b="1" dirty="0">
                <a:latin typeface="Times New Roman" panose="02020603050405020304" pitchFamily="18" charset="0"/>
                <a:cs typeface="Times New Roman" panose="02020603050405020304" pitchFamily="18" charset="0"/>
              </a:rPr>
              <a:t>Features:</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Fast profile storage and search.</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Easy profile update and management.</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Efficient handling of student records.</a:t>
            </a:r>
          </a:p>
          <a:p>
            <a:pPr>
              <a:lnSpc>
                <a:spcPct val="150000"/>
              </a:lnSpc>
            </a:pPr>
            <a:r>
              <a:rPr lang="en-IN" sz="2000" b="1" dirty="0">
                <a:latin typeface="Times New Roman" panose="02020603050405020304" pitchFamily="18" charset="0"/>
                <a:cs typeface="Times New Roman" panose="02020603050405020304" pitchFamily="18" charset="0"/>
              </a:rPr>
              <a:t>Outcome:</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Provides quick access to student information and forms the foundation for efficient skill matching.</a:t>
            </a:r>
          </a:p>
        </p:txBody>
      </p:sp>
      <p:pic>
        <p:nvPicPr>
          <p:cNvPr id="6" name="object 3">
            <a:extLst>
              <a:ext uri="{FF2B5EF4-FFF2-40B4-BE49-F238E27FC236}">
                <a16:creationId xmlns:a16="http://schemas.microsoft.com/office/drawing/2014/main" id="{9C240479-F757-E5C0-5664-790CE6214E86}"/>
              </a:ext>
            </a:extLst>
          </p:cNvPr>
          <p:cNvPicPr/>
          <p:nvPr/>
        </p:nvPicPr>
        <p:blipFill>
          <a:blip r:embed="rId2" cstate="print"/>
          <a:stretch>
            <a:fillRect/>
          </a:stretch>
        </p:blipFill>
        <p:spPr>
          <a:xfrm>
            <a:off x="344593" y="228176"/>
            <a:ext cx="987213" cy="1133475"/>
          </a:xfrm>
          <a:prstGeom prst="rect">
            <a:avLst/>
          </a:prstGeom>
        </p:spPr>
      </p:pic>
      <p:pic>
        <p:nvPicPr>
          <p:cNvPr id="8" name="object 4">
            <a:extLst>
              <a:ext uri="{FF2B5EF4-FFF2-40B4-BE49-F238E27FC236}">
                <a16:creationId xmlns:a16="http://schemas.microsoft.com/office/drawing/2014/main" id="{40DA8358-CABE-4480-48E4-FFB95D587150}"/>
              </a:ext>
            </a:extLst>
          </p:cNvPr>
          <p:cNvPicPr/>
          <p:nvPr/>
        </p:nvPicPr>
        <p:blipFill>
          <a:blip r:embed="rId3" cstate="print"/>
          <a:stretch>
            <a:fillRect/>
          </a:stretch>
        </p:blipFill>
        <p:spPr>
          <a:xfrm>
            <a:off x="10368979" y="294851"/>
            <a:ext cx="1419225" cy="1066800"/>
          </a:xfrm>
          <a:prstGeom prst="rect">
            <a:avLst/>
          </a:prstGeom>
        </p:spPr>
      </p:pic>
    </p:spTree>
    <p:extLst>
      <p:ext uri="{BB962C8B-B14F-4D97-AF65-F5344CB8AC3E}">
        <p14:creationId xmlns:p14="http://schemas.microsoft.com/office/powerpoint/2010/main" val="1966019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9A0C55-0CF0-7063-5A6A-B75AA2D8C2B2}"/>
              </a:ext>
            </a:extLst>
          </p:cNvPr>
          <p:cNvSpPr txBox="1"/>
          <p:nvPr/>
        </p:nvSpPr>
        <p:spPr>
          <a:xfrm>
            <a:off x="825911" y="548063"/>
            <a:ext cx="10264876" cy="830997"/>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MODULE 1 – STUDENT PROFILE MANAGEMENT USING HASH TABLES</a:t>
            </a:r>
          </a:p>
        </p:txBody>
      </p:sp>
      <p:pic>
        <p:nvPicPr>
          <p:cNvPr id="7" name="Picture 6">
            <a:extLst>
              <a:ext uri="{FF2B5EF4-FFF2-40B4-BE49-F238E27FC236}">
                <a16:creationId xmlns:a16="http://schemas.microsoft.com/office/drawing/2014/main" id="{E22031E2-1E64-AC82-B23E-2038F2E330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813" y="1379060"/>
            <a:ext cx="10993071" cy="5225011"/>
          </a:xfrm>
          <a:prstGeom prst="rect">
            <a:avLst/>
          </a:prstGeom>
        </p:spPr>
      </p:pic>
      <p:pic>
        <p:nvPicPr>
          <p:cNvPr id="9" name="object 3">
            <a:extLst>
              <a:ext uri="{FF2B5EF4-FFF2-40B4-BE49-F238E27FC236}">
                <a16:creationId xmlns:a16="http://schemas.microsoft.com/office/drawing/2014/main" id="{C087531C-767D-E8BB-31C2-7B424284DBD2}"/>
              </a:ext>
            </a:extLst>
          </p:cNvPr>
          <p:cNvPicPr/>
          <p:nvPr/>
        </p:nvPicPr>
        <p:blipFill>
          <a:blip r:embed="rId3" cstate="print"/>
          <a:stretch>
            <a:fillRect/>
          </a:stretch>
        </p:blipFill>
        <p:spPr>
          <a:xfrm>
            <a:off x="74368" y="0"/>
            <a:ext cx="987213" cy="1133475"/>
          </a:xfrm>
          <a:prstGeom prst="rect">
            <a:avLst/>
          </a:prstGeom>
        </p:spPr>
      </p:pic>
    </p:spTree>
    <p:extLst>
      <p:ext uri="{BB962C8B-B14F-4D97-AF65-F5344CB8AC3E}">
        <p14:creationId xmlns:p14="http://schemas.microsoft.com/office/powerpoint/2010/main" val="3512064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CE16174-33AB-DB88-549F-EEAE30066108}"/>
              </a:ext>
            </a:extLst>
          </p:cNvPr>
          <p:cNvSpPr txBox="1"/>
          <p:nvPr/>
        </p:nvSpPr>
        <p:spPr>
          <a:xfrm>
            <a:off x="1588081" y="754374"/>
            <a:ext cx="8729505" cy="830997"/>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MODULE 2 – SKILL SEARCH AND MATCHING USING HASH TABLES</a:t>
            </a:r>
          </a:p>
        </p:txBody>
      </p:sp>
      <p:sp>
        <p:nvSpPr>
          <p:cNvPr id="7" name="TextBox 6">
            <a:extLst>
              <a:ext uri="{FF2B5EF4-FFF2-40B4-BE49-F238E27FC236}">
                <a16:creationId xmlns:a16="http://schemas.microsoft.com/office/drawing/2014/main" id="{A5705BCA-B3C4-116B-417C-C3A9AD8EA05A}"/>
              </a:ext>
            </a:extLst>
          </p:cNvPr>
          <p:cNvSpPr txBox="1"/>
          <p:nvPr/>
        </p:nvSpPr>
        <p:spPr>
          <a:xfrm>
            <a:off x="838199" y="1737261"/>
            <a:ext cx="10177329" cy="4708981"/>
          </a:xfrm>
          <a:prstGeom prst="rect">
            <a:avLst/>
          </a:prstGeom>
          <a:noFill/>
        </p:spPr>
        <p:txBody>
          <a:bodyPr wrap="square">
            <a:spAutoFit/>
          </a:bodyPr>
          <a:lstStyle/>
          <a:p>
            <a:pPr>
              <a:lnSpc>
                <a:spcPct val="150000"/>
              </a:lnSpc>
            </a:pPr>
            <a:r>
              <a:rPr lang="en-IN" sz="2000" b="1" dirty="0">
                <a:latin typeface="Times New Roman" panose="02020603050405020304" pitchFamily="18" charset="0"/>
                <a:cs typeface="Times New Roman" panose="02020603050405020304" pitchFamily="18" charset="0"/>
              </a:rPr>
              <a:t>Function:</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Searches students based on their skills and learning interests.</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Matches students with suitable learning or teaching partners.</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Retrieves matching profiles quickly using a Hash Table.</a:t>
            </a:r>
          </a:p>
          <a:p>
            <a:pPr>
              <a:lnSpc>
                <a:spcPct val="150000"/>
              </a:lnSpc>
            </a:pPr>
            <a:r>
              <a:rPr lang="en-IN" sz="2000" b="1" dirty="0">
                <a:latin typeface="Times New Roman" panose="02020603050405020304" pitchFamily="18" charset="0"/>
                <a:cs typeface="Times New Roman" panose="02020603050405020304" pitchFamily="18" charset="0"/>
              </a:rPr>
              <a:t>Features:</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Fast skill-based search.</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Accurate student matching.</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Easy access to relevant profiles.</a:t>
            </a:r>
          </a:p>
          <a:p>
            <a:pPr>
              <a:lnSpc>
                <a:spcPct val="150000"/>
              </a:lnSpc>
            </a:pPr>
            <a:r>
              <a:rPr lang="en-IN" sz="2000" b="1" dirty="0">
                <a:latin typeface="Times New Roman" panose="02020603050405020304" pitchFamily="18" charset="0"/>
                <a:cs typeface="Times New Roman" panose="02020603050405020304" pitchFamily="18" charset="0"/>
              </a:rPr>
              <a:t>Outcome:</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Helps students quickly find the right partners for skill exchange and collaborative learning.</a:t>
            </a:r>
          </a:p>
        </p:txBody>
      </p:sp>
      <p:pic>
        <p:nvPicPr>
          <p:cNvPr id="6" name="object 3">
            <a:extLst>
              <a:ext uri="{FF2B5EF4-FFF2-40B4-BE49-F238E27FC236}">
                <a16:creationId xmlns:a16="http://schemas.microsoft.com/office/drawing/2014/main" id="{9C240479-F757-E5C0-5664-790CE6214E86}"/>
              </a:ext>
            </a:extLst>
          </p:cNvPr>
          <p:cNvPicPr/>
          <p:nvPr/>
        </p:nvPicPr>
        <p:blipFill>
          <a:blip r:embed="rId2" cstate="print"/>
          <a:stretch>
            <a:fillRect/>
          </a:stretch>
        </p:blipFill>
        <p:spPr>
          <a:xfrm>
            <a:off x="344593" y="228176"/>
            <a:ext cx="987213" cy="1133475"/>
          </a:xfrm>
          <a:prstGeom prst="rect">
            <a:avLst/>
          </a:prstGeom>
        </p:spPr>
      </p:pic>
      <p:pic>
        <p:nvPicPr>
          <p:cNvPr id="8" name="object 4">
            <a:extLst>
              <a:ext uri="{FF2B5EF4-FFF2-40B4-BE49-F238E27FC236}">
                <a16:creationId xmlns:a16="http://schemas.microsoft.com/office/drawing/2014/main" id="{40DA8358-CABE-4480-48E4-FFB95D587150}"/>
              </a:ext>
            </a:extLst>
          </p:cNvPr>
          <p:cNvPicPr/>
          <p:nvPr/>
        </p:nvPicPr>
        <p:blipFill>
          <a:blip r:embed="rId3" cstate="print"/>
          <a:stretch>
            <a:fillRect/>
          </a:stretch>
        </p:blipFill>
        <p:spPr>
          <a:xfrm>
            <a:off x="10368979" y="294851"/>
            <a:ext cx="1419225" cy="1066800"/>
          </a:xfrm>
          <a:prstGeom prst="rect">
            <a:avLst/>
          </a:prstGeom>
        </p:spPr>
      </p:pic>
    </p:spTree>
    <p:extLst>
      <p:ext uri="{BB962C8B-B14F-4D97-AF65-F5344CB8AC3E}">
        <p14:creationId xmlns:p14="http://schemas.microsoft.com/office/powerpoint/2010/main" val="478005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71FA63-4192-8D30-C618-1A1220B37B6A}"/>
              </a:ext>
            </a:extLst>
          </p:cNvPr>
          <p:cNvSpPr txBox="1"/>
          <p:nvPr/>
        </p:nvSpPr>
        <p:spPr>
          <a:xfrm>
            <a:off x="1248696" y="253096"/>
            <a:ext cx="9045677" cy="830997"/>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MODULE 2 – SKILL SEARCH AND MATCHING USING HASH TABLES</a:t>
            </a:r>
          </a:p>
        </p:txBody>
      </p:sp>
      <p:pic>
        <p:nvPicPr>
          <p:cNvPr id="5" name="Picture 4">
            <a:extLst>
              <a:ext uri="{FF2B5EF4-FFF2-40B4-BE49-F238E27FC236}">
                <a16:creationId xmlns:a16="http://schemas.microsoft.com/office/drawing/2014/main" id="{C7433872-364C-B421-2C52-C4716C9D4FF3}"/>
              </a:ext>
            </a:extLst>
          </p:cNvPr>
          <p:cNvPicPr>
            <a:picLocks noChangeAspect="1"/>
          </p:cNvPicPr>
          <p:nvPr/>
        </p:nvPicPr>
        <p:blipFill>
          <a:blip r:embed="rId2"/>
          <a:stretch>
            <a:fillRect/>
          </a:stretch>
        </p:blipFill>
        <p:spPr>
          <a:xfrm>
            <a:off x="627134" y="1231211"/>
            <a:ext cx="3779848" cy="3589331"/>
          </a:xfrm>
          <a:prstGeom prst="rect">
            <a:avLst/>
          </a:prstGeom>
        </p:spPr>
      </p:pic>
      <p:pic>
        <p:nvPicPr>
          <p:cNvPr id="7" name="Picture 6">
            <a:extLst>
              <a:ext uri="{FF2B5EF4-FFF2-40B4-BE49-F238E27FC236}">
                <a16:creationId xmlns:a16="http://schemas.microsoft.com/office/drawing/2014/main" id="{39FC53E6-576D-4A6F-F498-FC800709F77C}"/>
              </a:ext>
            </a:extLst>
          </p:cNvPr>
          <p:cNvPicPr>
            <a:picLocks noChangeAspect="1"/>
          </p:cNvPicPr>
          <p:nvPr/>
        </p:nvPicPr>
        <p:blipFill>
          <a:blip r:embed="rId3"/>
          <a:stretch>
            <a:fillRect/>
          </a:stretch>
        </p:blipFill>
        <p:spPr>
          <a:xfrm>
            <a:off x="5437238" y="1231211"/>
            <a:ext cx="5408404" cy="4731658"/>
          </a:xfrm>
          <a:prstGeom prst="rect">
            <a:avLst/>
          </a:prstGeom>
        </p:spPr>
      </p:pic>
      <p:pic>
        <p:nvPicPr>
          <p:cNvPr id="9" name="object 3">
            <a:extLst>
              <a:ext uri="{FF2B5EF4-FFF2-40B4-BE49-F238E27FC236}">
                <a16:creationId xmlns:a16="http://schemas.microsoft.com/office/drawing/2014/main" id="{9A105123-C6C6-C0C2-E411-522BBE5D13F5}"/>
              </a:ext>
            </a:extLst>
          </p:cNvPr>
          <p:cNvPicPr/>
          <p:nvPr/>
        </p:nvPicPr>
        <p:blipFill>
          <a:blip r:embed="rId4" cstate="print"/>
          <a:stretch>
            <a:fillRect/>
          </a:stretch>
        </p:blipFill>
        <p:spPr>
          <a:xfrm>
            <a:off x="133527" y="97736"/>
            <a:ext cx="987213" cy="1133475"/>
          </a:xfrm>
          <a:prstGeom prst="rect">
            <a:avLst/>
          </a:prstGeom>
        </p:spPr>
      </p:pic>
      <p:pic>
        <p:nvPicPr>
          <p:cNvPr id="11" name="object 4">
            <a:extLst>
              <a:ext uri="{FF2B5EF4-FFF2-40B4-BE49-F238E27FC236}">
                <a16:creationId xmlns:a16="http://schemas.microsoft.com/office/drawing/2014/main" id="{44325089-7D43-4ABC-A2D1-06813778C0D5}"/>
              </a:ext>
            </a:extLst>
          </p:cNvPr>
          <p:cNvPicPr/>
          <p:nvPr/>
        </p:nvPicPr>
        <p:blipFill>
          <a:blip r:embed="rId5" cstate="print"/>
          <a:stretch>
            <a:fillRect/>
          </a:stretch>
        </p:blipFill>
        <p:spPr>
          <a:xfrm>
            <a:off x="10772775" y="90852"/>
            <a:ext cx="1419225" cy="1066800"/>
          </a:xfrm>
          <a:prstGeom prst="rect">
            <a:avLst/>
          </a:prstGeom>
        </p:spPr>
      </p:pic>
    </p:spTree>
    <p:extLst>
      <p:ext uri="{BB962C8B-B14F-4D97-AF65-F5344CB8AC3E}">
        <p14:creationId xmlns:p14="http://schemas.microsoft.com/office/powerpoint/2010/main" val="3920359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8D9530-93EE-4A0F-DAEC-E8D7AD6F4725}"/>
              </a:ext>
            </a:extLst>
          </p:cNvPr>
          <p:cNvSpPr txBox="1"/>
          <p:nvPr/>
        </p:nvSpPr>
        <p:spPr>
          <a:xfrm>
            <a:off x="838199" y="1917616"/>
            <a:ext cx="10768424" cy="4653646"/>
          </a:xfrm>
          <a:prstGeom prst="rect">
            <a:avLst/>
          </a:prstGeom>
          <a:noFill/>
        </p:spPr>
        <p:txBody>
          <a:bodyPr wrap="square">
            <a:spAutoFit/>
          </a:bodyPr>
          <a:lstStyle/>
          <a:p>
            <a:pPr>
              <a:lnSpc>
                <a:spcPct val="150000"/>
              </a:lnSpc>
            </a:pPr>
            <a:r>
              <a:rPr lang="en-US" sz="2000" b="1" dirty="0">
                <a:latin typeface="Times New Roman" panose="02020603050405020304" pitchFamily="18" charset="0"/>
                <a:cs typeface="Times New Roman" panose="02020603050405020304" pitchFamily="18" charset="0"/>
              </a:rPr>
              <a:t>Function: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Represents students as nodes and skill connections as edges.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Connects students based on shared skills and learning interests.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Identifies possible learning and collaboration paths.</a:t>
            </a:r>
          </a:p>
          <a:p>
            <a:pPr>
              <a:lnSpc>
                <a:spcPct val="150000"/>
              </a:lnSpc>
            </a:pPr>
            <a:r>
              <a:rPr lang="en-US" sz="2000" b="1" dirty="0">
                <a:latin typeface="Times New Roman" panose="02020603050405020304" pitchFamily="18" charset="0"/>
                <a:cs typeface="Times New Roman" panose="02020603050405020304" pitchFamily="18" charset="0"/>
              </a:rPr>
              <a:t>Features: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Graph-based student connections.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Visual representation of skill relationships.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Easy identification of suitable learning partners</a:t>
            </a:r>
            <a:r>
              <a:rPr lang="en-US" sz="2000" b="1" dirty="0">
                <a:latin typeface="Times New Roman" panose="02020603050405020304" pitchFamily="18" charset="0"/>
                <a:cs typeface="Times New Roman" panose="02020603050405020304" pitchFamily="18" charset="0"/>
              </a:rPr>
              <a:t>.</a:t>
            </a:r>
          </a:p>
          <a:p>
            <a:pPr>
              <a:lnSpc>
                <a:spcPct val="150000"/>
              </a:lnSpc>
            </a:pPr>
            <a:r>
              <a:rPr lang="en-US" sz="2000" b="1" dirty="0">
                <a:latin typeface="Times New Roman" panose="02020603050405020304" pitchFamily="18" charset="0"/>
                <a:cs typeface="Times New Roman" panose="02020603050405020304" pitchFamily="18" charset="0"/>
              </a:rPr>
              <a:t>Outcome:</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Creates an efficient student network that promotes skill sharing and collaborative learning.</a:t>
            </a:r>
          </a:p>
        </p:txBody>
      </p:sp>
      <p:sp>
        <p:nvSpPr>
          <p:cNvPr id="7" name="TextBox 6">
            <a:extLst>
              <a:ext uri="{FF2B5EF4-FFF2-40B4-BE49-F238E27FC236}">
                <a16:creationId xmlns:a16="http://schemas.microsoft.com/office/drawing/2014/main" id="{887418A8-1022-BE30-2E7D-4E9C310E6B3B}"/>
              </a:ext>
            </a:extLst>
          </p:cNvPr>
          <p:cNvSpPr txBox="1"/>
          <p:nvPr/>
        </p:nvSpPr>
        <p:spPr>
          <a:xfrm>
            <a:off x="1702171" y="1177968"/>
            <a:ext cx="10086033"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MODULE 3 – STUDENT SKILL NETWORK USING GRAPHS</a:t>
            </a:r>
          </a:p>
        </p:txBody>
      </p:sp>
      <p:pic>
        <p:nvPicPr>
          <p:cNvPr id="6" name="object 3">
            <a:extLst>
              <a:ext uri="{FF2B5EF4-FFF2-40B4-BE49-F238E27FC236}">
                <a16:creationId xmlns:a16="http://schemas.microsoft.com/office/drawing/2014/main" id="{9C240479-F757-E5C0-5664-790CE6214E86}"/>
              </a:ext>
            </a:extLst>
          </p:cNvPr>
          <p:cNvPicPr/>
          <p:nvPr/>
        </p:nvPicPr>
        <p:blipFill>
          <a:blip r:embed="rId2" cstate="print"/>
          <a:stretch>
            <a:fillRect/>
          </a:stretch>
        </p:blipFill>
        <p:spPr>
          <a:xfrm>
            <a:off x="344593" y="228176"/>
            <a:ext cx="987213" cy="1133475"/>
          </a:xfrm>
          <a:prstGeom prst="rect">
            <a:avLst/>
          </a:prstGeom>
        </p:spPr>
      </p:pic>
      <p:pic>
        <p:nvPicPr>
          <p:cNvPr id="8" name="object 4">
            <a:extLst>
              <a:ext uri="{FF2B5EF4-FFF2-40B4-BE49-F238E27FC236}">
                <a16:creationId xmlns:a16="http://schemas.microsoft.com/office/drawing/2014/main" id="{40DA8358-CABE-4480-48E4-FFB95D587150}"/>
              </a:ext>
            </a:extLst>
          </p:cNvPr>
          <p:cNvPicPr/>
          <p:nvPr/>
        </p:nvPicPr>
        <p:blipFill>
          <a:blip r:embed="rId3" cstate="print"/>
          <a:stretch>
            <a:fillRect/>
          </a:stretch>
        </p:blipFill>
        <p:spPr>
          <a:xfrm>
            <a:off x="10368979" y="294851"/>
            <a:ext cx="1419225" cy="1066800"/>
          </a:xfrm>
          <a:prstGeom prst="rect">
            <a:avLst/>
          </a:prstGeom>
        </p:spPr>
      </p:pic>
    </p:spTree>
    <p:extLst>
      <p:ext uri="{BB962C8B-B14F-4D97-AF65-F5344CB8AC3E}">
        <p14:creationId xmlns:p14="http://schemas.microsoft.com/office/powerpoint/2010/main" val="756154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C8BA03-8422-A2AA-5F93-119425FA5290}"/>
              </a:ext>
            </a:extLst>
          </p:cNvPr>
          <p:cNvSpPr txBox="1"/>
          <p:nvPr/>
        </p:nvSpPr>
        <p:spPr>
          <a:xfrm>
            <a:off x="1740311" y="580104"/>
            <a:ext cx="9289838" cy="738664"/>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MODULE 3 – STUDENT SKILL NETWORK USING GRAPHS</a:t>
            </a:r>
          </a:p>
          <a:p>
            <a:endParaRPr lang="en-IN" dirty="0"/>
          </a:p>
        </p:txBody>
      </p:sp>
      <p:pic>
        <p:nvPicPr>
          <p:cNvPr id="4" name="Picture 3">
            <a:extLst>
              <a:ext uri="{FF2B5EF4-FFF2-40B4-BE49-F238E27FC236}">
                <a16:creationId xmlns:a16="http://schemas.microsoft.com/office/drawing/2014/main" id="{D1D5887E-91CB-F6BE-706B-29B3A6F9C6FD}"/>
              </a:ext>
            </a:extLst>
          </p:cNvPr>
          <p:cNvPicPr>
            <a:picLocks noChangeAspect="1"/>
          </p:cNvPicPr>
          <p:nvPr/>
        </p:nvPicPr>
        <p:blipFill>
          <a:blip r:embed="rId2"/>
          <a:stretch>
            <a:fillRect/>
          </a:stretch>
        </p:blipFill>
        <p:spPr>
          <a:xfrm>
            <a:off x="1161852" y="1318768"/>
            <a:ext cx="9198137" cy="4922947"/>
          </a:xfrm>
          <a:prstGeom prst="rect">
            <a:avLst/>
          </a:prstGeom>
        </p:spPr>
      </p:pic>
      <p:pic>
        <p:nvPicPr>
          <p:cNvPr id="6" name="object 3">
            <a:extLst>
              <a:ext uri="{FF2B5EF4-FFF2-40B4-BE49-F238E27FC236}">
                <a16:creationId xmlns:a16="http://schemas.microsoft.com/office/drawing/2014/main" id="{057A3511-11B9-AD91-BA21-D814D466D9D9}"/>
              </a:ext>
            </a:extLst>
          </p:cNvPr>
          <p:cNvPicPr/>
          <p:nvPr/>
        </p:nvPicPr>
        <p:blipFill>
          <a:blip r:embed="rId3" cstate="print"/>
          <a:stretch>
            <a:fillRect/>
          </a:stretch>
        </p:blipFill>
        <p:spPr>
          <a:xfrm>
            <a:off x="0" y="90524"/>
            <a:ext cx="987213" cy="1133475"/>
          </a:xfrm>
          <a:prstGeom prst="rect">
            <a:avLst/>
          </a:prstGeom>
        </p:spPr>
      </p:pic>
      <p:pic>
        <p:nvPicPr>
          <p:cNvPr id="8" name="object 4">
            <a:extLst>
              <a:ext uri="{FF2B5EF4-FFF2-40B4-BE49-F238E27FC236}">
                <a16:creationId xmlns:a16="http://schemas.microsoft.com/office/drawing/2014/main" id="{A9D002BC-B7FD-BC4C-67CD-245AA8C0869F}"/>
              </a:ext>
            </a:extLst>
          </p:cNvPr>
          <p:cNvPicPr/>
          <p:nvPr/>
        </p:nvPicPr>
        <p:blipFill>
          <a:blip r:embed="rId4" cstate="print"/>
          <a:srcRect l="470"/>
          <a:stretch>
            <a:fillRect/>
          </a:stretch>
        </p:blipFill>
        <p:spPr>
          <a:xfrm>
            <a:off x="10795819" y="9833"/>
            <a:ext cx="1412554" cy="1066800"/>
          </a:xfrm>
          <a:prstGeom prst="rect">
            <a:avLst/>
          </a:prstGeom>
        </p:spPr>
      </p:pic>
    </p:spTree>
    <p:extLst>
      <p:ext uri="{BB962C8B-B14F-4D97-AF65-F5344CB8AC3E}">
        <p14:creationId xmlns:p14="http://schemas.microsoft.com/office/powerpoint/2010/main" val="2389905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0147D5-A155-4DC2-A722-70B4D1EF4FD5}"/>
              </a:ext>
            </a:extLst>
          </p:cNvPr>
          <p:cNvSpPr txBox="1"/>
          <p:nvPr/>
        </p:nvSpPr>
        <p:spPr>
          <a:xfrm>
            <a:off x="1401510" y="946152"/>
            <a:ext cx="9109818" cy="830997"/>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MODULE 4 – SMART SKILL RECOMMENDATION USING GRAPHS</a:t>
            </a:r>
          </a:p>
        </p:txBody>
      </p:sp>
      <p:sp>
        <p:nvSpPr>
          <p:cNvPr id="7" name="TextBox 6">
            <a:extLst>
              <a:ext uri="{FF2B5EF4-FFF2-40B4-BE49-F238E27FC236}">
                <a16:creationId xmlns:a16="http://schemas.microsoft.com/office/drawing/2014/main" id="{AEBA3A08-84EB-B894-86D3-74C887E63398}"/>
              </a:ext>
            </a:extLst>
          </p:cNvPr>
          <p:cNvSpPr txBox="1"/>
          <p:nvPr/>
        </p:nvSpPr>
        <p:spPr>
          <a:xfrm>
            <a:off x="700754" y="1867152"/>
            <a:ext cx="11425727" cy="4708981"/>
          </a:xfrm>
          <a:prstGeom prst="rect">
            <a:avLst/>
          </a:prstGeom>
          <a:noFill/>
        </p:spPr>
        <p:txBody>
          <a:bodyPr wrap="square">
            <a:spAutoFit/>
          </a:bodyPr>
          <a:lstStyle/>
          <a:p>
            <a:pPr>
              <a:lnSpc>
                <a:spcPct val="150000"/>
              </a:lnSpc>
            </a:pPr>
            <a:r>
              <a:rPr lang="en-IN" sz="2000" b="1" dirty="0">
                <a:latin typeface="Times New Roman" panose="02020603050405020304" pitchFamily="18" charset="0"/>
                <a:cs typeface="Times New Roman" panose="02020603050405020304" pitchFamily="18" charset="0"/>
              </a:rPr>
              <a:t>Function:</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Recommends suitable students for skill exchange.</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Analyses graph connections to find the best learning partners.</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Maintains collaboration and skill exchange records.</a:t>
            </a:r>
          </a:p>
          <a:p>
            <a:pPr>
              <a:lnSpc>
                <a:spcPct val="150000"/>
              </a:lnSpc>
            </a:pPr>
            <a:r>
              <a:rPr lang="en-IN" sz="2000" b="1" dirty="0">
                <a:latin typeface="Times New Roman" panose="02020603050405020304" pitchFamily="18" charset="0"/>
                <a:cs typeface="Times New Roman" panose="02020603050405020304" pitchFamily="18" charset="0"/>
              </a:rPr>
              <a:t>Features:</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Intelligent partner recommendation.</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Personalized skill suggestions.</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Tracks student collaboration history.</a:t>
            </a:r>
          </a:p>
          <a:p>
            <a:pPr>
              <a:lnSpc>
                <a:spcPct val="150000"/>
              </a:lnSpc>
            </a:pPr>
            <a:r>
              <a:rPr lang="en-IN" sz="2000" b="1" dirty="0">
                <a:latin typeface="Times New Roman" panose="02020603050405020304" pitchFamily="18" charset="0"/>
                <a:cs typeface="Times New Roman" panose="02020603050405020304" pitchFamily="18" charset="0"/>
              </a:rPr>
              <a:t>Outcome:</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Improves skill exchange by providing accurate recommendations and encouraging effective peer learning.</a:t>
            </a:r>
          </a:p>
        </p:txBody>
      </p:sp>
      <p:pic>
        <p:nvPicPr>
          <p:cNvPr id="6" name="object 3">
            <a:extLst>
              <a:ext uri="{FF2B5EF4-FFF2-40B4-BE49-F238E27FC236}">
                <a16:creationId xmlns:a16="http://schemas.microsoft.com/office/drawing/2014/main" id="{9C240479-F757-E5C0-5664-790CE6214E86}"/>
              </a:ext>
            </a:extLst>
          </p:cNvPr>
          <p:cNvPicPr/>
          <p:nvPr/>
        </p:nvPicPr>
        <p:blipFill>
          <a:blip r:embed="rId2" cstate="print"/>
          <a:stretch>
            <a:fillRect/>
          </a:stretch>
        </p:blipFill>
        <p:spPr>
          <a:xfrm>
            <a:off x="344593" y="228176"/>
            <a:ext cx="987213" cy="1133475"/>
          </a:xfrm>
          <a:prstGeom prst="rect">
            <a:avLst/>
          </a:prstGeom>
        </p:spPr>
      </p:pic>
      <p:pic>
        <p:nvPicPr>
          <p:cNvPr id="8" name="object 4">
            <a:extLst>
              <a:ext uri="{FF2B5EF4-FFF2-40B4-BE49-F238E27FC236}">
                <a16:creationId xmlns:a16="http://schemas.microsoft.com/office/drawing/2014/main" id="{40DA8358-CABE-4480-48E4-FFB95D587150}"/>
              </a:ext>
            </a:extLst>
          </p:cNvPr>
          <p:cNvPicPr/>
          <p:nvPr/>
        </p:nvPicPr>
        <p:blipFill>
          <a:blip r:embed="rId3" cstate="print"/>
          <a:stretch>
            <a:fillRect/>
          </a:stretch>
        </p:blipFill>
        <p:spPr>
          <a:xfrm>
            <a:off x="10368979" y="294851"/>
            <a:ext cx="1419225" cy="1066800"/>
          </a:xfrm>
          <a:prstGeom prst="rect">
            <a:avLst/>
          </a:prstGeom>
        </p:spPr>
      </p:pic>
    </p:spTree>
    <p:extLst>
      <p:ext uri="{BB962C8B-B14F-4D97-AF65-F5344CB8AC3E}">
        <p14:creationId xmlns:p14="http://schemas.microsoft.com/office/powerpoint/2010/main" val="86579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EC9129-6429-97AC-7090-4F1B09221E04}"/>
              </a:ext>
            </a:extLst>
          </p:cNvPr>
          <p:cNvPicPr>
            <a:picLocks noChangeAspect="1"/>
          </p:cNvPicPr>
          <p:nvPr/>
        </p:nvPicPr>
        <p:blipFill>
          <a:blip r:embed="rId2"/>
          <a:stretch>
            <a:fillRect/>
          </a:stretch>
        </p:blipFill>
        <p:spPr>
          <a:xfrm>
            <a:off x="486047" y="1219422"/>
            <a:ext cx="10358934" cy="5224136"/>
          </a:xfrm>
          <a:prstGeom prst="rect">
            <a:avLst/>
          </a:prstGeom>
        </p:spPr>
      </p:pic>
      <p:sp>
        <p:nvSpPr>
          <p:cNvPr id="5" name="TextBox 4">
            <a:extLst>
              <a:ext uri="{FF2B5EF4-FFF2-40B4-BE49-F238E27FC236}">
                <a16:creationId xmlns:a16="http://schemas.microsoft.com/office/drawing/2014/main" id="{10BB7ECF-4571-D869-3B6B-3227C9F29B73}"/>
              </a:ext>
            </a:extLst>
          </p:cNvPr>
          <p:cNvSpPr txBox="1"/>
          <p:nvPr/>
        </p:nvSpPr>
        <p:spPr>
          <a:xfrm>
            <a:off x="855406" y="85947"/>
            <a:ext cx="9488129" cy="830997"/>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MODULE 4 – SMART SKILL RECOMMENDATION USING GRAPHS</a:t>
            </a:r>
          </a:p>
        </p:txBody>
      </p:sp>
      <p:pic>
        <p:nvPicPr>
          <p:cNvPr id="7" name="object 3">
            <a:extLst>
              <a:ext uri="{FF2B5EF4-FFF2-40B4-BE49-F238E27FC236}">
                <a16:creationId xmlns:a16="http://schemas.microsoft.com/office/drawing/2014/main" id="{9128ED12-2E64-7192-1BED-5AEC98ED6BE9}"/>
              </a:ext>
            </a:extLst>
          </p:cNvPr>
          <p:cNvPicPr/>
          <p:nvPr/>
        </p:nvPicPr>
        <p:blipFill>
          <a:blip r:embed="rId3" cstate="print"/>
          <a:stretch>
            <a:fillRect/>
          </a:stretch>
        </p:blipFill>
        <p:spPr>
          <a:xfrm>
            <a:off x="98601" y="85947"/>
            <a:ext cx="987213" cy="1133475"/>
          </a:xfrm>
          <a:prstGeom prst="rect">
            <a:avLst/>
          </a:prstGeom>
        </p:spPr>
      </p:pic>
      <p:pic>
        <p:nvPicPr>
          <p:cNvPr id="9" name="object 4">
            <a:extLst>
              <a:ext uri="{FF2B5EF4-FFF2-40B4-BE49-F238E27FC236}">
                <a16:creationId xmlns:a16="http://schemas.microsoft.com/office/drawing/2014/main" id="{09AB9155-3758-B02B-688B-B34078542727}"/>
              </a:ext>
            </a:extLst>
          </p:cNvPr>
          <p:cNvPicPr/>
          <p:nvPr/>
        </p:nvPicPr>
        <p:blipFill>
          <a:blip r:embed="rId4" cstate="print"/>
          <a:stretch>
            <a:fillRect/>
          </a:stretch>
        </p:blipFill>
        <p:spPr>
          <a:xfrm>
            <a:off x="10674174" y="85947"/>
            <a:ext cx="1419225" cy="1066800"/>
          </a:xfrm>
          <a:prstGeom prst="rect">
            <a:avLst/>
          </a:prstGeom>
        </p:spPr>
      </p:pic>
    </p:spTree>
    <p:extLst>
      <p:ext uri="{BB962C8B-B14F-4D97-AF65-F5344CB8AC3E}">
        <p14:creationId xmlns:p14="http://schemas.microsoft.com/office/powerpoint/2010/main" val="1060781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3">
            <a:extLst>
              <a:ext uri="{FF2B5EF4-FFF2-40B4-BE49-F238E27FC236}">
                <a16:creationId xmlns:a16="http://schemas.microsoft.com/office/drawing/2014/main" id="{9C240479-F757-E5C0-5664-790CE6214E86}"/>
              </a:ext>
            </a:extLst>
          </p:cNvPr>
          <p:cNvPicPr/>
          <p:nvPr/>
        </p:nvPicPr>
        <p:blipFill>
          <a:blip r:embed="rId2" cstate="print"/>
          <a:stretch>
            <a:fillRect/>
          </a:stretch>
        </p:blipFill>
        <p:spPr>
          <a:xfrm>
            <a:off x="344593" y="228176"/>
            <a:ext cx="987213" cy="1133475"/>
          </a:xfrm>
          <a:prstGeom prst="rect">
            <a:avLst/>
          </a:prstGeom>
        </p:spPr>
      </p:pic>
      <p:pic>
        <p:nvPicPr>
          <p:cNvPr id="3" name="object 4">
            <a:extLst>
              <a:ext uri="{FF2B5EF4-FFF2-40B4-BE49-F238E27FC236}">
                <a16:creationId xmlns:a16="http://schemas.microsoft.com/office/drawing/2014/main" id="{40DA8358-CABE-4480-48E4-FFB95D587150}"/>
              </a:ext>
            </a:extLst>
          </p:cNvPr>
          <p:cNvPicPr/>
          <p:nvPr/>
        </p:nvPicPr>
        <p:blipFill>
          <a:blip r:embed="rId3" cstate="print"/>
          <a:stretch>
            <a:fillRect/>
          </a:stretch>
        </p:blipFill>
        <p:spPr>
          <a:xfrm>
            <a:off x="10368979" y="294851"/>
            <a:ext cx="1419225" cy="1066800"/>
          </a:xfrm>
          <a:prstGeom prst="rect">
            <a:avLst/>
          </a:prstGeom>
        </p:spPr>
      </p:pic>
      <p:sp>
        <p:nvSpPr>
          <p:cNvPr id="4" name="Rectangle 3"/>
          <p:cNvSpPr/>
          <p:nvPr/>
        </p:nvSpPr>
        <p:spPr>
          <a:xfrm>
            <a:off x="4554908" y="1361651"/>
            <a:ext cx="3102124" cy="523220"/>
          </a:xfrm>
          <a:prstGeom prst="rect">
            <a:avLst/>
          </a:prstGeom>
        </p:spPr>
        <p:txBody>
          <a:bodyPr wrap="square">
            <a:spAutoFit/>
          </a:bodyPr>
          <a:lstStyle/>
          <a:p>
            <a:r>
              <a:rPr lang="en-IN" sz="2800" b="1" dirty="0">
                <a:latin typeface="Times New Roman" pitchFamily="18" charset="0"/>
                <a:cs typeface="Times New Roman" pitchFamily="18" charset="0"/>
              </a:rPr>
              <a:t>CONCLUSION</a:t>
            </a:r>
          </a:p>
        </p:txBody>
      </p:sp>
      <p:sp>
        <p:nvSpPr>
          <p:cNvPr id="5" name="Rectangle 4"/>
          <p:cNvSpPr/>
          <p:nvPr/>
        </p:nvSpPr>
        <p:spPr>
          <a:xfrm>
            <a:off x="957129" y="2397725"/>
            <a:ext cx="10121462" cy="2862322"/>
          </a:xfrm>
          <a:prstGeom prst="rect">
            <a:avLst/>
          </a:prstGeom>
        </p:spPr>
        <p:txBody>
          <a:bodyPr wrap="square">
            <a:spAutoFit/>
          </a:bodyPr>
          <a:lstStyle/>
          <a:p>
            <a:pPr>
              <a:lnSpc>
                <a:spcPct val="150000"/>
              </a:lnSpc>
            </a:pPr>
            <a:r>
              <a:rPr lang="en-US" sz="2000" dirty="0">
                <a:latin typeface="Times New Roman" pitchFamily="18" charset="0"/>
                <a:cs typeface="Times New Roman" pitchFamily="18" charset="0"/>
              </a:rPr>
              <a:t>The Smart Student Skill Exchange Platform Using Graphs and Hash Tables provides an efficient way for students to connect, learn, and share skills. By using Hash Tables, the system enables fast storage and retrieval of student information, while Graphs help build meaningful connections between students based on their skills and interests. The platform improves collaboration, encourages peer learning, and makes skill exchange simple and effective. Overall, the project demonstrates how data structures can be applied to solve real-world educational challenges.</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1402956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4221" y="2002852"/>
            <a:ext cx="9648202" cy="3083986"/>
          </a:xfrm>
          <a:prstGeom prst="rect">
            <a:avLst/>
          </a:prstGeom>
        </p:spPr>
        <p:txBody>
          <a:bodyPr wrap="square">
            <a:spAutoFit/>
          </a:bodyPr>
          <a:lstStyle/>
          <a:p>
            <a:endParaRPr lang="en-US" dirty="0"/>
          </a:p>
          <a:p>
            <a:pPr marL="285750" indent="-285750">
              <a:lnSpc>
                <a:spcPct val="150000"/>
              </a:lnSpc>
              <a:buFont typeface="Arial" pitchFamily="34" charset="0"/>
              <a:buChar char="•"/>
            </a:pPr>
            <a:r>
              <a:rPr lang="en-US" sz="2000" dirty="0">
                <a:latin typeface="Times New Roman" pitchFamily="18" charset="0"/>
                <a:cs typeface="Times New Roman" pitchFamily="18" charset="0"/>
              </a:rPr>
              <a:t> Integrate AI-based recommendations to provide more accurate skill matching.</a:t>
            </a:r>
          </a:p>
          <a:p>
            <a:pPr marL="285750" indent="-285750">
              <a:lnSpc>
                <a:spcPct val="150000"/>
              </a:lnSpc>
              <a:buFont typeface="Arial" pitchFamily="34" charset="0"/>
              <a:buChar char="•"/>
            </a:pPr>
            <a:r>
              <a:rPr lang="en-US" sz="2000" dirty="0">
                <a:latin typeface="Times New Roman" pitchFamily="18" charset="0"/>
                <a:cs typeface="Times New Roman" pitchFamily="18" charset="0"/>
              </a:rPr>
              <a:t> Add real-time chat and video meeting features for better communication.</a:t>
            </a:r>
          </a:p>
          <a:p>
            <a:pPr marL="285750" indent="-285750">
              <a:lnSpc>
                <a:spcPct val="150000"/>
              </a:lnSpc>
              <a:buFont typeface="Arial" pitchFamily="34" charset="0"/>
              <a:buChar char="•"/>
            </a:pPr>
            <a:r>
              <a:rPr lang="en-US" sz="2000" dirty="0">
                <a:latin typeface="Times New Roman" pitchFamily="18" charset="0"/>
                <a:cs typeface="Times New Roman" pitchFamily="18" charset="0"/>
              </a:rPr>
              <a:t>Develop a mobile application for easy access anytime and anywhere.</a:t>
            </a:r>
          </a:p>
          <a:p>
            <a:pPr marL="285750" indent="-285750">
              <a:lnSpc>
                <a:spcPct val="150000"/>
              </a:lnSpc>
              <a:buFont typeface="Arial" pitchFamily="34" charset="0"/>
              <a:buChar char="•"/>
            </a:pPr>
            <a:r>
              <a:rPr lang="en-US" sz="2000" dirty="0">
                <a:latin typeface="Times New Roman" pitchFamily="18" charset="0"/>
                <a:cs typeface="Times New Roman" pitchFamily="18" charset="0"/>
              </a:rPr>
              <a:t>Introduce certificates, badges, and reward points to encourage active participation.</a:t>
            </a:r>
          </a:p>
          <a:p>
            <a:pPr marL="285750" indent="-285750">
              <a:lnSpc>
                <a:spcPct val="150000"/>
              </a:lnSpc>
              <a:buFont typeface="Arial" pitchFamily="34" charset="0"/>
              <a:buChar char="•"/>
            </a:pPr>
            <a:r>
              <a:rPr lang="en-US" sz="2000" dirty="0">
                <a:latin typeface="Times New Roman" pitchFamily="18" charset="0"/>
                <a:cs typeface="Times New Roman" pitchFamily="18" charset="0"/>
              </a:rPr>
              <a:t>Expand the platform to connect students from multiple colleges and universities for wider skill exchange.</a:t>
            </a:r>
            <a:endParaRPr lang="en-IN" sz="2000" dirty="0">
              <a:latin typeface="Times New Roman" pitchFamily="18" charset="0"/>
              <a:cs typeface="Times New Roman" pitchFamily="18" charset="0"/>
            </a:endParaRPr>
          </a:p>
        </p:txBody>
      </p:sp>
      <p:sp>
        <p:nvSpPr>
          <p:cNvPr id="3" name="Rectangle 2"/>
          <p:cNvSpPr/>
          <p:nvPr/>
        </p:nvSpPr>
        <p:spPr>
          <a:xfrm>
            <a:off x="4119073" y="1401510"/>
            <a:ext cx="3837062" cy="523220"/>
          </a:xfrm>
          <a:prstGeom prst="rect">
            <a:avLst/>
          </a:prstGeom>
        </p:spPr>
        <p:txBody>
          <a:bodyPr wrap="square">
            <a:spAutoFit/>
          </a:bodyPr>
          <a:lstStyle/>
          <a:p>
            <a:pPr algn="ctr"/>
            <a:r>
              <a:rPr lang="en-US" sz="2800" b="1" dirty="0">
                <a:latin typeface="Times New Roman" pitchFamily="18" charset="0"/>
                <a:cs typeface="Times New Roman" pitchFamily="18" charset="0"/>
              </a:rPr>
              <a:t>FUTURE SCOPE</a:t>
            </a:r>
          </a:p>
        </p:txBody>
      </p:sp>
      <p:pic>
        <p:nvPicPr>
          <p:cNvPr id="4" name="object 3">
            <a:extLst>
              <a:ext uri="{FF2B5EF4-FFF2-40B4-BE49-F238E27FC236}">
                <a16:creationId xmlns:a16="http://schemas.microsoft.com/office/drawing/2014/main" id="{9C240479-F757-E5C0-5664-790CE6214E86}"/>
              </a:ext>
            </a:extLst>
          </p:cNvPr>
          <p:cNvPicPr/>
          <p:nvPr/>
        </p:nvPicPr>
        <p:blipFill>
          <a:blip r:embed="rId2" cstate="print"/>
          <a:stretch>
            <a:fillRect/>
          </a:stretch>
        </p:blipFill>
        <p:spPr>
          <a:xfrm>
            <a:off x="344593" y="228176"/>
            <a:ext cx="987213" cy="1133475"/>
          </a:xfrm>
          <a:prstGeom prst="rect">
            <a:avLst/>
          </a:prstGeom>
        </p:spPr>
      </p:pic>
      <p:pic>
        <p:nvPicPr>
          <p:cNvPr id="5" name="object 4">
            <a:extLst>
              <a:ext uri="{FF2B5EF4-FFF2-40B4-BE49-F238E27FC236}">
                <a16:creationId xmlns:a16="http://schemas.microsoft.com/office/drawing/2014/main" id="{40DA8358-CABE-4480-48E4-FFB95D587150}"/>
              </a:ext>
            </a:extLst>
          </p:cNvPr>
          <p:cNvPicPr/>
          <p:nvPr/>
        </p:nvPicPr>
        <p:blipFill>
          <a:blip r:embed="rId3" cstate="print"/>
          <a:stretch>
            <a:fillRect/>
          </a:stretch>
        </p:blipFill>
        <p:spPr>
          <a:xfrm>
            <a:off x="10368979" y="294851"/>
            <a:ext cx="1419225" cy="1066800"/>
          </a:xfrm>
          <a:prstGeom prst="rect">
            <a:avLst/>
          </a:prstGeom>
        </p:spPr>
      </p:pic>
    </p:spTree>
    <p:extLst>
      <p:ext uri="{BB962C8B-B14F-4D97-AF65-F5344CB8AC3E}">
        <p14:creationId xmlns:p14="http://schemas.microsoft.com/office/powerpoint/2010/main" val="4220057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4CA2FB-2A9D-AA34-EBDB-DCE2E2EF94D7}"/>
              </a:ext>
            </a:extLst>
          </p:cNvPr>
          <p:cNvSpPr txBox="1"/>
          <p:nvPr/>
        </p:nvSpPr>
        <p:spPr>
          <a:xfrm>
            <a:off x="3755922" y="2598003"/>
            <a:ext cx="4532671" cy="830997"/>
          </a:xfrm>
          <a:prstGeom prst="rect">
            <a:avLst/>
          </a:prstGeom>
          <a:noFill/>
        </p:spPr>
        <p:txBody>
          <a:bodyPr wrap="square" rtlCol="0">
            <a:spAutoFit/>
          </a:bodyPr>
          <a:lstStyle/>
          <a:p>
            <a:r>
              <a:rPr lang="en-IN" sz="48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5812812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180</TotalTime>
  <Words>1144</Words>
  <Application>Microsoft Office PowerPoint</Application>
  <PresentationFormat>Widescreen</PresentationFormat>
  <Paragraphs>152</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Aptos Display</vt:lpstr>
      <vt:lpstr>Arial</vt:lpstr>
      <vt:lpstr>Cambria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Jeni 18</dc:creator>
  <cp:lastModifiedBy>Sathvika Bhavanasi</cp:lastModifiedBy>
  <cp:revision>8</cp:revision>
  <dcterms:created xsi:type="dcterms:W3CDTF">2026-08-04T12:56:42Z</dcterms:created>
  <dcterms:modified xsi:type="dcterms:W3CDTF">2026-08-28T03:39:43Z</dcterms:modified>
</cp:coreProperties>
</file>